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7"/>
  </p:normalViewPr>
  <p:slideViewPr>
    <p:cSldViewPr snapToGrid="0">
      <p:cViewPr varScale="1">
        <p:scale>
          <a:sx n="97" d="100"/>
          <a:sy n="97" d="100"/>
        </p:scale>
        <p:origin x="4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/Users/dyn/Desktop/ax-project/README.md:1-61</a:t>
            </a:r>
          </a:p>
          <a:p>
            <a:r>
              <a:t>- Design reference — https://www.canva.com/learn/minimalist-poster/</a:t>
            </a:r>
          </a:p>
          <a:p>
            <a:r>
              <a:t>- Design reference — https://developer.android.com/codelabs/m3-design-theming?hl=en</a:t>
            </a:r>
          </a:p>
          <a:p>
            <a:r>
              <a:t>- Design reference — https://en.wikipedia.org/wiki/Swiss_Style_(design)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/Users/dyn/Desktop/ax-project/README.md:5-13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/Users/dyn/Desktop/ax-project/README.md:15-52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/Users/dyn/Desktop/ax-project/README.md:54-70</a:t>
            </a:r>
          </a:p>
          <a:p>
            <a:r>
              <a:t>- /Users/dyn/Desktop/ax-project/src/code_impact/agent/llm.py:17-114</a:t>
            </a:r>
          </a:p>
          <a:p>
            <a:r>
              <a:t>- /Users/dyn/Desktop/ax-project/src/code_impact/db_builder/ast_parser.py:112-154</a:t>
            </a:r>
          </a:p>
          <a:p>
            <a:r>
              <a:t>- /Users/dyn/Desktop/ax-project/src/code_impact/agent/graph.py:52-217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/Users/dyn/Desktop/ax-project/README.md:70-114</a:t>
            </a:r>
          </a:p>
          <a:p>
            <a:r>
              <a:t>- /Users/dyn/Desktop/ax-project/src/code_impact/demo_setup.py:43-92</a:t>
            </a:r>
          </a:p>
          <a:p>
            <a:r>
              <a:t>- /Users/dyn/Desktop/ax-project/demo/av-sim/control/safety_check.py:4-11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Verified local demo run, 2026-07-30: 1 changed function, 2 impact functions, 3 tests, 6/6 evidence valid</a:t>
            </a:r>
          </a:p>
          <a:p>
            <a:r>
              <a:t>- /Users/dyn/Desktop/ax-project/tests/test_code_impact.py:8-30</a:t>
            </a:r>
          </a:p>
          <a:p>
            <a:r>
              <a:t>- /Users/dyn/Desktop/ax-project/src/code_impact/agent/tools.py:26-109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Verified local demo report, 2026-07-30</a:t>
            </a:r>
          </a:p>
          <a:p>
            <a:r>
              <a:t>- /Users/dyn/Desktop/ax-project/src/code_impact/agent/llm.py:96-114</a:t>
            </a:r>
          </a:p>
          <a:p>
            <a:r>
              <a:t>- /Users/dyn/Desktop/ax-project/src/code_impact/agent/report.py:26-87</a:t>
            </a:r>
          </a:p>
          <a:p>
            <a:r>
              <a:t>- /Users/dyn/Desktop/ax-project/src/code_impact/agent/tools.py:111-129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Verified local demo run, 2026-07-30: demo-docs-only returned 0 changed functions and stopped</a:t>
            </a:r>
          </a:p>
          <a:p>
            <a:r>
              <a:t>- /Users/dyn/Desktop/ax-project/tests/test_code_impact.py:33-41</a:t>
            </a:r>
          </a:p>
          <a:p>
            <a:r>
              <a:t>- /Users/dyn/Desktop/ax-project/src/code_impact/agent/graph.py:151-188</a:t>
            </a:r>
          </a:p>
          <a:p>
            <a:r>
              <a:t>- /Users/dyn/Desktop/ax-project/src/code_impact/agent/report.py:39-48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Verified local test run, 2026-07-30: 5 passed in 3.48s</a:t>
            </a:r>
          </a:p>
          <a:p>
            <a:r>
              <a:t>- Tests use FakeGemini; no live Gemini API call was performed</a:t>
            </a:r>
          </a:p>
          <a:p>
            <a:r>
              <a:t>- /Users/dyn/Desktop/ax-project/tests/test_code_impact.py:8-145</a:t>
            </a:r>
          </a:p>
          <a:p>
            <a:r>
              <a:t>- /Users/dyn/Desktop/ax-project/src/code_impact/agent/llm.py:17-114</a:t>
            </a:r>
          </a:p>
          <a:p>
            <a:r>
              <a:t>- /Users/dyn/Desktop/ax-project/README.md:126-149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/Users/dyn/Desktop/ax-project/README.md:116-124</a:t>
            </a:r>
          </a:p>
          <a:p>
            <a:r>
              <a:t>- /Users/dyn/Desktop/ax-project/README.md:144-149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/Users/dyn/Desktop/ax-project/README.md:5-13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F41AF334-5199-4857-BBE7-DBB9BF0DD0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3157D5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74316B-8961-4CFE-B8BE-8F87CE1AD440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PROJECT REPORT · 2026.07.30</a:t>
            </a:r>
          </a:p>
        </p:txBody>
      </p:sp>
      <p:sp>
        <p:nvSpPr>
          <p:cNvPr id="3" name="deck-title">
            <a:extLst>
              <a:ext uri="{FF2B5EF4-FFF2-40B4-BE49-F238E27FC236}">
                <a16:creationId xmlns:a16="http://schemas.microsoft.com/office/drawing/2014/main" id="{572834D7-D9A3-46FA-B70D-A3870BFAC957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5905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2000"/>
              </a:lnSpc>
              <a:buNone/>
              <a:defRPr sz="5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Code Impact</a:t>
            </a:r>
          </a:p>
          <a:p>
            <a:pPr algn="l">
              <a:lnSpc>
                <a:spcPct val="82000"/>
              </a:lnSpc>
              <a:buNone/>
              <a:defRPr sz="5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8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Agent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03C29BC-D6BE-416D-99F1-D3B7DCCEF10D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5810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17308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308E"/>
                </a:solidFill>
                <a:latin typeface="Apple SD Gothic Neo"/>
                <a:ea typeface="Apple SD Gothic Neo"/>
                <a:cs typeface="Apple SD Gothic Neo"/>
              </a:rPr>
              <a:t>Git 커밋에서 영향 함수와 테스트를</a:t>
            </a:r>
          </a:p>
          <a:p>
            <a:pPr algn="l">
              <a:lnSpc>
                <a:spcPct val="105000"/>
              </a:lnSpc>
              <a:buNone/>
              <a:defRPr sz="2250" b="1">
                <a:solidFill>
                  <a:srgbClr val="17308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308E"/>
                </a:solidFill>
                <a:latin typeface="Apple SD Gothic Neo"/>
                <a:ea typeface="Apple SD Gothic Neo"/>
                <a:cs typeface="Apple SD Gothic Neo"/>
              </a:rPr>
              <a:t>파일·함수·라인 근거로 추적하다</a:t>
            </a:r>
          </a:p>
        </p:txBody>
      </p:sp>
      <p:sp>
        <p:nvSpPr>
          <p:cNvPr id="5" name="직선 연결선[R] 4">
            <a:extLst>
              <a:ext uri="{FF2B5EF4-FFF2-40B4-BE49-F238E27FC236}">
                <a16:creationId xmlns:a16="http://schemas.microsoft.com/office/drawing/2014/main" id="{93557141-F305-4CA5-B54B-9D89336C2BF4}"/>
              </a:ext>
            </a:extLst>
          </p:cNvPr>
          <p:cNvSpPr>
            <a:spLocks noGrp="1"/>
          </p:cNvSpPr>
          <p:nvPr/>
        </p:nvSpPr>
        <p:spPr>
          <a:xfrm>
            <a:off x="7239000" y="1943100"/>
            <a:ext cx="2952750" cy="0"/>
          </a:xfrm>
          <a:prstGeom prst="line">
            <a:avLst/>
          </a:prstGeom>
          <a:noFill/>
          <a:ln w="38100">
            <a:solidFill>
              <a:srgbClr val="3157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선 연결선[R] 5">
            <a:extLst>
              <a:ext uri="{FF2B5EF4-FFF2-40B4-BE49-F238E27FC236}">
                <a16:creationId xmlns:a16="http://schemas.microsoft.com/office/drawing/2014/main" id="{08E9171C-DFEE-4C41-BD54-2709B73BF91D}"/>
              </a:ext>
            </a:extLst>
          </p:cNvPr>
          <p:cNvSpPr>
            <a:spLocks noGrp="1"/>
          </p:cNvSpPr>
          <p:nvPr/>
        </p:nvSpPr>
        <p:spPr>
          <a:xfrm>
            <a:off x="7886700" y="1943100"/>
            <a:ext cx="0" cy="1905000"/>
          </a:xfrm>
          <a:prstGeom prst="line">
            <a:avLst/>
          </a:prstGeom>
          <a:noFill/>
          <a:ln w="38100">
            <a:solidFill>
              <a:srgbClr val="3157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3D85C04C-2D59-45A5-9211-C4C03445FACE}"/>
              </a:ext>
            </a:extLst>
          </p:cNvPr>
          <p:cNvSpPr>
            <a:spLocks noGrp="1"/>
          </p:cNvSpPr>
          <p:nvPr/>
        </p:nvSpPr>
        <p:spPr>
          <a:xfrm>
            <a:off x="9334500" y="1943100"/>
            <a:ext cx="0" cy="1905000"/>
          </a:xfrm>
          <a:prstGeom prst="line">
            <a:avLst/>
          </a:prstGeom>
          <a:noFill/>
          <a:ln w="38100">
            <a:solidFill>
              <a:srgbClr val="3157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선 연결선[R] 7">
            <a:extLst>
              <a:ext uri="{FF2B5EF4-FFF2-40B4-BE49-F238E27FC236}">
                <a16:creationId xmlns:a16="http://schemas.microsoft.com/office/drawing/2014/main" id="{614230A6-9CDF-4729-87E8-99D0281CBAC1}"/>
              </a:ext>
            </a:extLst>
          </p:cNvPr>
          <p:cNvSpPr>
            <a:spLocks noGrp="1"/>
          </p:cNvSpPr>
          <p:nvPr/>
        </p:nvSpPr>
        <p:spPr>
          <a:xfrm>
            <a:off x="7886700" y="3848100"/>
            <a:ext cx="1447800" cy="0"/>
          </a:xfrm>
          <a:prstGeom prst="line">
            <a:avLst/>
          </a:prstGeom>
          <a:noFill/>
          <a:ln w="38100">
            <a:solidFill>
              <a:srgbClr val="3157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06A589E-656D-4C02-94E8-13F84DBCEE14}"/>
              </a:ext>
            </a:extLst>
          </p:cNvPr>
          <p:cNvSpPr>
            <a:spLocks noGrp="1"/>
          </p:cNvSpPr>
          <p:nvPr/>
        </p:nvSpPr>
        <p:spPr>
          <a:xfrm>
            <a:off x="6896100" y="1600200"/>
            <a:ext cx="1066800" cy="10668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157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F04A8A8-69F7-4644-B31A-80052C65B9F6}"/>
              </a:ext>
            </a:extLst>
          </p:cNvPr>
          <p:cNvSpPr>
            <a:spLocks noGrp="1"/>
          </p:cNvSpPr>
          <p:nvPr/>
        </p:nvSpPr>
        <p:spPr>
          <a:xfrm>
            <a:off x="6896100" y="1781175"/>
            <a:ext cx="106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E8630D3-8553-4C3B-AF5A-BCAD66C5BF36}"/>
              </a:ext>
            </a:extLst>
          </p:cNvPr>
          <p:cNvSpPr>
            <a:spLocks noGrp="1"/>
          </p:cNvSpPr>
          <p:nvPr/>
        </p:nvSpPr>
        <p:spPr>
          <a:xfrm>
            <a:off x="6896100" y="215265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변경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41831FA-51B8-46EC-A75F-10CAFE229536}"/>
              </a:ext>
            </a:extLst>
          </p:cNvPr>
          <p:cNvSpPr>
            <a:spLocks noGrp="1"/>
          </p:cNvSpPr>
          <p:nvPr/>
        </p:nvSpPr>
        <p:spPr>
          <a:xfrm>
            <a:off x="8705850" y="1600200"/>
            <a:ext cx="1066800" cy="10668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157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08B693-B8A0-4E0E-9D95-F19751F55D26}"/>
              </a:ext>
            </a:extLst>
          </p:cNvPr>
          <p:cNvSpPr>
            <a:spLocks noGrp="1"/>
          </p:cNvSpPr>
          <p:nvPr/>
        </p:nvSpPr>
        <p:spPr>
          <a:xfrm>
            <a:off x="8705850" y="1781175"/>
            <a:ext cx="106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193D05D-AD93-48DD-A82D-C698033DF93A}"/>
              </a:ext>
            </a:extLst>
          </p:cNvPr>
          <p:cNvSpPr>
            <a:spLocks noGrp="1"/>
          </p:cNvSpPr>
          <p:nvPr/>
        </p:nvSpPr>
        <p:spPr>
          <a:xfrm>
            <a:off x="8705850" y="215265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영향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2495CC1D-9359-4A92-BB15-2E764247A931}"/>
              </a:ext>
            </a:extLst>
          </p:cNvPr>
          <p:cNvSpPr>
            <a:spLocks noGrp="1"/>
          </p:cNvSpPr>
          <p:nvPr/>
        </p:nvSpPr>
        <p:spPr>
          <a:xfrm>
            <a:off x="6896100" y="3505200"/>
            <a:ext cx="1066800" cy="10668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157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C08141E-BE51-4B0E-8DE3-50551CEDCF59}"/>
              </a:ext>
            </a:extLst>
          </p:cNvPr>
          <p:cNvSpPr>
            <a:spLocks noGrp="1"/>
          </p:cNvSpPr>
          <p:nvPr/>
        </p:nvSpPr>
        <p:spPr>
          <a:xfrm>
            <a:off x="6896100" y="3686175"/>
            <a:ext cx="106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FBD3FF9-4000-40D3-A53A-BAC7BB4A1EEE}"/>
              </a:ext>
            </a:extLst>
          </p:cNvPr>
          <p:cNvSpPr>
            <a:spLocks noGrp="1"/>
          </p:cNvSpPr>
          <p:nvPr/>
        </p:nvSpPr>
        <p:spPr>
          <a:xfrm>
            <a:off x="6896100" y="405765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테스트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8F0874D-ACD1-421E-B063-0F0B89DA78EB}"/>
              </a:ext>
            </a:extLst>
          </p:cNvPr>
          <p:cNvSpPr>
            <a:spLocks noGrp="1"/>
          </p:cNvSpPr>
          <p:nvPr/>
        </p:nvSpPr>
        <p:spPr>
          <a:xfrm>
            <a:off x="8705850" y="3505200"/>
            <a:ext cx="1066800" cy="10668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157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1248E14-06C6-4470-AEC7-B3C9C2F6DF32}"/>
              </a:ext>
            </a:extLst>
          </p:cNvPr>
          <p:cNvSpPr>
            <a:spLocks noGrp="1"/>
          </p:cNvSpPr>
          <p:nvPr/>
        </p:nvSpPr>
        <p:spPr>
          <a:xfrm>
            <a:off x="8705850" y="3686175"/>
            <a:ext cx="106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DAECFD-4478-44C4-88F3-C25B3BC6088A}"/>
              </a:ext>
            </a:extLst>
          </p:cNvPr>
          <p:cNvSpPr>
            <a:spLocks noGrp="1"/>
          </p:cNvSpPr>
          <p:nvPr/>
        </p:nvSpPr>
        <p:spPr>
          <a:xfrm>
            <a:off x="8705850" y="405765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근거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93D52BF-F28E-4A03-95A0-88BD8C8D2F89}"/>
              </a:ext>
            </a:extLst>
          </p:cNvPr>
          <p:cNvSpPr>
            <a:spLocks noGrp="1"/>
          </p:cNvSpPr>
          <p:nvPr/>
        </p:nvSpPr>
        <p:spPr>
          <a:xfrm>
            <a:off x="685800" y="592455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프로젝트 내용 · 구현 구조 · 데모 결과 · 검증 범위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77D104B-6BD5-4AAC-AC7D-D82C15D8760A}"/>
              </a:ext>
            </a:extLst>
          </p:cNvPr>
          <p:cNvSpPr>
            <a:spLocks noGrp="1"/>
          </p:cNvSpPr>
          <p:nvPr/>
        </p:nvSpPr>
        <p:spPr>
          <a:xfrm>
            <a:off x="9791700" y="59245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200" b="1">
                <a:solidFill>
                  <a:srgbClr val="626873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626873"/>
                </a:solidFill>
                <a:latin typeface="Menlo"/>
                <a:ea typeface="Menlo"/>
                <a:cs typeface="Menlo"/>
              </a:rPr>
              <a:t>AX PROJECT</a:t>
            </a:r>
          </a:p>
        </p:txBody>
      </p:sp>
    </p:spTree>
    <p:extLst>
      <p:ext uri="{BB962C8B-B14F-4D97-AF65-F5344CB8AC3E}">
        <p14:creationId xmlns:p14="http://schemas.microsoft.com/office/powerpoint/2010/main" val="1015823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6DB7D47B-120D-4BC9-A68D-BE5F134A9B7D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9C11F04-75D1-442A-9400-68B9B55484E6}"/>
              </a:ext>
            </a:extLst>
          </p:cNvPr>
          <p:cNvSpPr>
            <a:spLocks noGrp="1"/>
          </p:cNvSpPr>
          <p:nvPr/>
        </p:nvSpPr>
        <p:spPr>
          <a:xfrm>
            <a:off x="1276350" y="4572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3" name="slide-2-title">
            <a:extLst>
              <a:ext uri="{FF2B5EF4-FFF2-40B4-BE49-F238E27FC236}">
                <a16:creationId xmlns:a16="http://schemas.microsoft.com/office/drawing/2014/main" id="{F46BB278-ADCE-4BC5-BE33-082B7B823275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  <a:defRPr sz="36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Git diff만으로는 영향 범위가 보이지 않는다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9F073B2-9780-46DF-8D08-73D2EF3D1A0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26873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626873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B1E561A-277B-4ACF-9C7E-DCFDBCDDC13C}"/>
              </a:ext>
            </a:extLst>
          </p:cNvPr>
          <p:cNvSpPr>
            <a:spLocks noGrp="1"/>
          </p:cNvSpPr>
          <p:nvPr/>
        </p:nvSpPr>
        <p:spPr>
          <a:xfrm>
            <a:off x="1181100" y="641985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0124E58-F88B-4A56-B1FB-9CBEE9977518}"/>
              </a:ext>
            </a:extLst>
          </p:cNvPr>
          <p:cNvSpPr>
            <a:spLocks noGrp="1"/>
          </p:cNvSpPr>
          <p:nvPr/>
        </p:nvSpPr>
        <p:spPr>
          <a:xfrm>
            <a:off x="9791700" y="6419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CODE IMPACT AGENT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9348426E-2F4F-448E-A5AD-37DEB9C4D31D}"/>
              </a:ext>
            </a:extLst>
          </p:cNvPr>
          <p:cNvSpPr>
            <a:spLocks noGrp="1"/>
          </p:cNvSpPr>
          <p:nvPr/>
        </p:nvSpPr>
        <p:spPr>
          <a:xfrm>
            <a:off x="685800" y="6267450"/>
            <a:ext cx="10820400" cy="0"/>
          </a:xfrm>
          <a:prstGeom prst="line">
            <a:avLst/>
          </a:prstGeom>
          <a:noFill/>
          <a:ln w="9525">
            <a:solidFill>
              <a:srgbClr val="D8D9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DF8889-9357-4D9E-AFDE-DFB5B8547AF0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3157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157D5"/>
                </a:solidFill>
                <a:latin typeface="Apple SD Gothic Neo"/>
                <a:ea typeface="Apple SD Gothic Neo"/>
                <a:cs typeface="Apple SD Gothic Neo"/>
              </a:rPr>
              <a:t>코드 리뷰에서 실제로 필요한 답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2F9591C-FE1A-46C0-BAD0-3FD1F003D5BE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4953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31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“어디가 바뀌었나?”보다</a:t>
            </a:r>
          </a:p>
          <a:p>
            <a:pPr algn="l">
              <a:lnSpc>
                <a:spcPct val="98000"/>
              </a:lnSpc>
              <a:buNone/>
              <a:defRPr sz="31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“무엇을 함께 확인해야 하나?”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BDDF7E-D65E-4E76-AE1E-68464177B418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476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80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프로젝트가 커질수록 호출 관계와 테스트 선택을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사람의 기억에만 맡기기 어렵다.</a:t>
            </a:r>
          </a:p>
        </p:txBody>
      </p:sp>
      <p:sp>
        <p:nvSpPr>
          <p:cNvPr id="11" name="직선 연결선[R] 10">
            <a:extLst>
              <a:ext uri="{FF2B5EF4-FFF2-40B4-BE49-F238E27FC236}">
                <a16:creationId xmlns:a16="http://schemas.microsoft.com/office/drawing/2014/main" id="{D7CDFFB6-9552-49C7-851C-9D41E543C8CD}"/>
              </a:ext>
            </a:extLst>
          </p:cNvPr>
          <p:cNvSpPr>
            <a:spLocks noGrp="1"/>
          </p:cNvSpPr>
          <p:nvPr/>
        </p:nvSpPr>
        <p:spPr>
          <a:xfrm>
            <a:off x="6705600" y="2343150"/>
            <a:ext cx="0" cy="2438400"/>
          </a:xfrm>
          <a:prstGeom prst="line">
            <a:avLst/>
          </a:prstGeom>
          <a:noFill/>
          <a:ln w="28575">
            <a:solidFill>
              <a:srgbClr val="D8D9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21C697E-EF47-40B0-A4DE-31CF11155342}"/>
              </a:ext>
            </a:extLst>
          </p:cNvPr>
          <p:cNvSpPr>
            <a:spLocks noGrp="1"/>
          </p:cNvSpPr>
          <p:nvPr/>
        </p:nvSpPr>
        <p:spPr>
          <a:xfrm>
            <a:off x="6419850" y="1885950"/>
            <a:ext cx="571500" cy="571500"/>
          </a:xfrm>
          <a:prstGeom prst="ellipse">
            <a:avLst/>
          </a:prstGeom>
          <a:solidFill>
            <a:srgbClr val="F6F5F0"/>
          </a:solidFill>
          <a:ln w="28575">
            <a:solidFill>
              <a:srgbClr val="3157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B65D449-501C-4909-90D9-896B5E7B338B}"/>
              </a:ext>
            </a:extLst>
          </p:cNvPr>
          <p:cNvSpPr>
            <a:spLocks noGrp="1"/>
          </p:cNvSpPr>
          <p:nvPr/>
        </p:nvSpPr>
        <p:spPr>
          <a:xfrm>
            <a:off x="6419850" y="20574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7F4BF7B-1985-4AFB-B542-4E2BAEF98C60}"/>
              </a:ext>
            </a:extLst>
          </p:cNvPr>
          <p:cNvSpPr>
            <a:spLocks noGrp="1"/>
          </p:cNvSpPr>
          <p:nvPr/>
        </p:nvSpPr>
        <p:spPr>
          <a:xfrm>
            <a:off x="7277100" y="18669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변경 함수 찾기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CE13E91-825E-481C-91AD-69F08719AD51}"/>
              </a:ext>
            </a:extLst>
          </p:cNvPr>
          <p:cNvSpPr>
            <a:spLocks noGrp="1"/>
          </p:cNvSpPr>
          <p:nvPr/>
        </p:nvSpPr>
        <p:spPr>
          <a:xfrm>
            <a:off x="7277100" y="224790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Git 변경 라인과 함수 범위를 대조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5D0536C7-64A7-4014-B957-8387473A53AC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571500" cy="571500"/>
          </a:xfrm>
          <a:prstGeom prst="ellipse">
            <a:avLst/>
          </a:prstGeom>
          <a:solidFill>
            <a:srgbClr val="F6F5F0"/>
          </a:solidFill>
          <a:ln w="28575">
            <a:solidFill>
              <a:srgbClr val="3157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EF8ACE2-8499-4165-B219-F2C6F20006C2}"/>
              </a:ext>
            </a:extLst>
          </p:cNvPr>
          <p:cNvSpPr>
            <a:spLocks noGrp="1"/>
          </p:cNvSpPr>
          <p:nvPr/>
        </p:nvSpPr>
        <p:spPr>
          <a:xfrm>
            <a:off x="6419850" y="32766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6B25A1E-6B7A-4F9E-AB02-A05AEF681BEF}"/>
              </a:ext>
            </a:extLst>
          </p:cNvPr>
          <p:cNvSpPr>
            <a:spLocks noGrp="1"/>
          </p:cNvSpPr>
          <p:nvPr/>
        </p:nvSpPr>
        <p:spPr>
          <a:xfrm>
            <a:off x="7277100" y="30861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호출자 추적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5EEEBC2-A3EC-4004-AC99-B802FD5F33D2}"/>
              </a:ext>
            </a:extLst>
          </p:cNvPr>
          <p:cNvSpPr>
            <a:spLocks noGrp="1"/>
          </p:cNvSpPr>
          <p:nvPr/>
        </p:nvSpPr>
        <p:spPr>
          <a:xfrm>
            <a:off x="7277100" y="346710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변경 함수를 사용하는 코드 후보 탐색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40D02C7-E35A-44CB-86B2-B2ED549828C0}"/>
              </a:ext>
            </a:extLst>
          </p:cNvPr>
          <p:cNvSpPr>
            <a:spLocks noGrp="1"/>
          </p:cNvSpPr>
          <p:nvPr/>
        </p:nvSpPr>
        <p:spPr>
          <a:xfrm>
            <a:off x="6419850" y="4324350"/>
            <a:ext cx="571500" cy="571500"/>
          </a:xfrm>
          <a:prstGeom prst="ellipse">
            <a:avLst/>
          </a:prstGeom>
          <a:solidFill>
            <a:srgbClr val="F6F5F0"/>
          </a:solidFill>
          <a:ln w="28575">
            <a:solidFill>
              <a:srgbClr val="3157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EEEB24F-7FB7-44B6-94C0-586191E5A370}"/>
              </a:ext>
            </a:extLst>
          </p:cNvPr>
          <p:cNvSpPr>
            <a:spLocks noGrp="1"/>
          </p:cNvSpPr>
          <p:nvPr/>
        </p:nvSpPr>
        <p:spPr>
          <a:xfrm>
            <a:off x="6419850" y="44958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A57D039-9D20-4C16-B4DB-E8593E3C763F}"/>
              </a:ext>
            </a:extLst>
          </p:cNvPr>
          <p:cNvSpPr>
            <a:spLocks noGrp="1"/>
          </p:cNvSpPr>
          <p:nvPr/>
        </p:nvSpPr>
        <p:spPr>
          <a:xfrm>
            <a:off x="7277100" y="43053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테스트 선택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EF208C2-4B0F-4781-8530-DECB8D96C42F}"/>
              </a:ext>
            </a:extLst>
          </p:cNvPr>
          <p:cNvSpPr>
            <a:spLocks noGrp="1"/>
          </p:cNvSpPr>
          <p:nvPr/>
        </p:nvSpPr>
        <p:spPr>
          <a:xfrm>
            <a:off x="7277100" y="468630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관련 경로를 실제로 확인할 테스트 결정</a:t>
            </a:r>
          </a:p>
        </p:txBody>
      </p:sp>
    </p:spTree>
    <p:extLst>
      <p:ext uri="{BB962C8B-B14F-4D97-AF65-F5344CB8AC3E}">
        <p14:creationId xmlns:p14="http://schemas.microsoft.com/office/powerpoint/2010/main" val="1919731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5DE92205-B906-4A15-8F00-21D79DF3F49A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884EA7-B0ED-4C2B-B834-C3CF8A308BCE}"/>
              </a:ext>
            </a:extLst>
          </p:cNvPr>
          <p:cNvSpPr>
            <a:spLocks noGrp="1"/>
          </p:cNvSpPr>
          <p:nvPr/>
        </p:nvSpPr>
        <p:spPr>
          <a:xfrm>
            <a:off x="1276350" y="4572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SOLUTION</a:t>
            </a:r>
          </a:p>
        </p:txBody>
      </p:sp>
      <p:sp>
        <p:nvSpPr>
          <p:cNvPr id="3" name="slide-3-title">
            <a:extLst>
              <a:ext uri="{FF2B5EF4-FFF2-40B4-BE49-F238E27FC236}">
                <a16:creationId xmlns:a16="http://schemas.microsoft.com/office/drawing/2014/main" id="{27729215-6420-4EEC-9994-B5190E6E5914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  <a:defRPr sz="36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커밋 하나가 네 가지 답이 된다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0D0E0AE-2095-480A-BFF7-C6E3DE92435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26873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626873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C0252E-2C8F-4893-86C0-628DE44C2C4E}"/>
              </a:ext>
            </a:extLst>
          </p:cNvPr>
          <p:cNvSpPr>
            <a:spLocks noGrp="1"/>
          </p:cNvSpPr>
          <p:nvPr/>
        </p:nvSpPr>
        <p:spPr>
          <a:xfrm>
            <a:off x="1181100" y="641985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SOLUTION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2C4DF1C-8677-4C90-ADE1-10DC23CA2AAA}"/>
              </a:ext>
            </a:extLst>
          </p:cNvPr>
          <p:cNvSpPr>
            <a:spLocks noGrp="1"/>
          </p:cNvSpPr>
          <p:nvPr/>
        </p:nvSpPr>
        <p:spPr>
          <a:xfrm>
            <a:off x="9791700" y="6419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CODE IMPACT AGENT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AE481A39-EFC0-4376-8057-B1C7B525A2AB}"/>
              </a:ext>
            </a:extLst>
          </p:cNvPr>
          <p:cNvSpPr>
            <a:spLocks noGrp="1"/>
          </p:cNvSpPr>
          <p:nvPr/>
        </p:nvSpPr>
        <p:spPr>
          <a:xfrm>
            <a:off x="685800" y="6267450"/>
            <a:ext cx="10820400" cy="0"/>
          </a:xfrm>
          <a:prstGeom prst="line">
            <a:avLst/>
          </a:prstGeom>
          <a:noFill/>
          <a:ln w="9525">
            <a:solidFill>
              <a:srgbClr val="D8D9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FB23363-7584-4C8C-9AF2-7C6E3A737D76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626873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626873"/>
                </a:solidFill>
                <a:latin typeface="Menlo"/>
                <a:ea typeface="Menlo"/>
                <a:cs typeface="Menlo"/>
              </a:rPr>
              <a:t>INPUT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84D2078-5D18-4145-9C27-8558FCA5ABA0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3157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3157D5"/>
                </a:solidFill>
                <a:latin typeface="Apple SD Gothic Neo"/>
                <a:ea typeface="Apple SD Gothic Neo"/>
                <a:cs typeface="Apple SD Gothic Neo"/>
              </a:rPr>
              <a:t>Git commit ID</a:t>
            </a:r>
          </a:p>
        </p:txBody>
      </p:sp>
      <p:sp>
        <p:nvSpPr>
          <p:cNvPr id="10" name="직선 연결선[R] 9">
            <a:extLst>
              <a:ext uri="{FF2B5EF4-FFF2-40B4-BE49-F238E27FC236}">
                <a16:creationId xmlns:a16="http://schemas.microsoft.com/office/drawing/2014/main" id="{E763B430-889A-4F80-9B6D-932AA182ED18}"/>
              </a:ext>
            </a:extLst>
          </p:cNvPr>
          <p:cNvSpPr>
            <a:spLocks noGrp="1"/>
          </p:cNvSpPr>
          <p:nvPr/>
        </p:nvSpPr>
        <p:spPr>
          <a:xfrm>
            <a:off x="685800" y="2819400"/>
            <a:ext cx="10820400" cy="0"/>
          </a:xfrm>
          <a:prstGeom prst="line">
            <a:avLst/>
          </a:prstGeom>
          <a:noFill/>
          <a:ln w="19050">
            <a:solidFill>
              <a:srgbClr val="1113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BBDFD15-556B-4CB1-822C-EEE293F141D5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247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2850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D5C9FCE-A996-4954-888E-DDB09D394655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변경 함수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00FC73B-BBF2-40A7-BBD7-F713D129F4BF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247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변경 라인이 포함된 함수</a:t>
            </a:r>
          </a:p>
        </p:txBody>
      </p:sp>
      <p:sp>
        <p:nvSpPr>
          <p:cNvPr id="14" name="직선 연결선[R] 13">
            <a:extLst>
              <a:ext uri="{FF2B5EF4-FFF2-40B4-BE49-F238E27FC236}">
                <a16:creationId xmlns:a16="http://schemas.microsoft.com/office/drawing/2014/main" id="{BDE4C4DC-8312-4716-A752-A63A2F55D975}"/>
              </a:ext>
            </a:extLst>
          </p:cNvPr>
          <p:cNvSpPr>
            <a:spLocks noGrp="1"/>
          </p:cNvSpPr>
          <p:nvPr/>
        </p:nvSpPr>
        <p:spPr>
          <a:xfrm>
            <a:off x="3305175" y="3238500"/>
            <a:ext cx="0" cy="1771650"/>
          </a:xfrm>
          <a:prstGeom prst="line">
            <a:avLst/>
          </a:prstGeom>
          <a:noFill/>
          <a:ln w="9525">
            <a:solidFill>
              <a:srgbClr val="D8D9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1D9A2E3-C72E-42CC-8DD4-FC3D68F2C821}"/>
              </a:ext>
            </a:extLst>
          </p:cNvPr>
          <p:cNvSpPr>
            <a:spLocks noGrp="1"/>
          </p:cNvSpPr>
          <p:nvPr/>
        </p:nvSpPr>
        <p:spPr>
          <a:xfrm>
            <a:off x="3467100" y="3219450"/>
            <a:ext cx="247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2850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872C2B2-13AE-4A51-BC16-986C977F7A4F}"/>
              </a:ext>
            </a:extLst>
          </p:cNvPr>
          <p:cNvSpPr>
            <a:spLocks noGrp="1"/>
          </p:cNvSpPr>
          <p:nvPr/>
        </p:nvSpPr>
        <p:spPr>
          <a:xfrm>
            <a:off x="3467100" y="38481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영향 가능 함수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DE799F5-DC32-46B9-B728-646E51FEB193}"/>
              </a:ext>
            </a:extLst>
          </p:cNvPr>
          <p:cNvSpPr>
            <a:spLocks noGrp="1"/>
          </p:cNvSpPr>
          <p:nvPr/>
        </p:nvSpPr>
        <p:spPr>
          <a:xfrm>
            <a:off x="3467100" y="4343400"/>
            <a:ext cx="247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역방향 호출 관계 · 최대 2단계</a:t>
            </a:r>
          </a:p>
        </p:txBody>
      </p:sp>
      <p:sp>
        <p:nvSpPr>
          <p:cNvPr id="18" name="직선 연결선[R] 17">
            <a:extLst>
              <a:ext uri="{FF2B5EF4-FFF2-40B4-BE49-F238E27FC236}">
                <a16:creationId xmlns:a16="http://schemas.microsoft.com/office/drawing/2014/main" id="{BD48A864-A631-417F-A242-B4831F350822}"/>
              </a:ext>
            </a:extLst>
          </p:cNvPr>
          <p:cNvSpPr>
            <a:spLocks noGrp="1"/>
          </p:cNvSpPr>
          <p:nvPr/>
        </p:nvSpPr>
        <p:spPr>
          <a:xfrm>
            <a:off x="6086475" y="3238500"/>
            <a:ext cx="0" cy="1771650"/>
          </a:xfrm>
          <a:prstGeom prst="line">
            <a:avLst/>
          </a:prstGeom>
          <a:noFill/>
          <a:ln w="9525">
            <a:solidFill>
              <a:srgbClr val="D8D9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702C8DD-A0B2-4A04-9F6D-3E31A4F53CEF}"/>
              </a:ext>
            </a:extLst>
          </p:cNvPr>
          <p:cNvSpPr>
            <a:spLocks noGrp="1"/>
          </p:cNvSpPr>
          <p:nvPr/>
        </p:nvSpPr>
        <p:spPr>
          <a:xfrm>
            <a:off x="6248400" y="3219450"/>
            <a:ext cx="247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2850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AD4C885-F504-4775-BDB0-2124358774DE}"/>
              </a:ext>
            </a:extLst>
          </p:cNvPr>
          <p:cNvSpPr>
            <a:spLocks noGrp="1"/>
          </p:cNvSpPr>
          <p:nvPr/>
        </p:nvSpPr>
        <p:spPr>
          <a:xfrm>
            <a:off x="6248400" y="38481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권장 테스트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7E7E2A8-0BE6-49B8-B6BD-62F32F0B137F}"/>
              </a:ext>
            </a:extLst>
          </p:cNvPr>
          <p:cNvSpPr>
            <a:spLocks noGrp="1"/>
          </p:cNvSpPr>
          <p:nvPr/>
        </p:nvSpPr>
        <p:spPr>
          <a:xfrm>
            <a:off x="6248400" y="4343400"/>
            <a:ext cx="247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정적으로 연결된 테스트 함수</a:t>
            </a:r>
          </a:p>
        </p:txBody>
      </p:sp>
      <p:sp>
        <p:nvSpPr>
          <p:cNvPr id="22" name="직선 연결선[R] 21">
            <a:extLst>
              <a:ext uri="{FF2B5EF4-FFF2-40B4-BE49-F238E27FC236}">
                <a16:creationId xmlns:a16="http://schemas.microsoft.com/office/drawing/2014/main" id="{8AB75854-A7EA-4FB0-8051-6C5690151CC9}"/>
              </a:ext>
            </a:extLst>
          </p:cNvPr>
          <p:cNvSpPr>
            <a:spLocks noGrp="1"/>
          </p:cNvSpPr>
          <p:nvPr/>
        </p:nvSpPr>
        <p:spPr>
          <a:xfrm>
            <a:off x="8867775" y="3238500"/>
            <a:ext cx="0" cy="1771650"/>
          </a:xfrm>
          <a:prstGeom prst="line">
            <a:avLst/>
          </a:prstGeom>
          <a:noFill/>
          <a:ln w="9525">
            <a:solidFill>
              <a:srgbClr val="D8D9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7D7F685-2267-4677-A995-BA6C80E5B541}"/>
              </a:ext>
            </a:extLst>
          </p:cNvPr>
          <p:cNvSpPr>
            <a:spLocks noGrp="1"/>
          </p:cNvSpPr>
          <p:nvPr/>
        </p:nvSpPr>
        <p:spPr>
          <a:xfrm>
            <a:off x="9029700" y="3219450"/>
            <a:ext cx="247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2850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4343E3E-AEA8-464A-84B7-4B94C5A74A3F}"/>
              </a:ext>
            </a:extLst>
          </p:cNvPr>
          <p:cNvSpPr>
            <a:spLocks noGrp="1"/>
          </p:cNvSpPr>
          <p:nvPr/>
        </p:nvSpPr>
        <p:spPr>
          <a:xfrm>
            <a:off x="9029700" y="38481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검증 근거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31EEB46-2538-4BC4-AA8E-FBC23F552E38}"/>
              </a:ext>
            </a:extLst>
          </p:cNvPr>
          <p:cNvSpPr>
            <a:spLocks noGrp="1"/>
          </p:cNvSpPr>
          <p:nvPr/>
        </p:nvSpPr>
        <p:spPr>
          <a:xfrm>
            <a:off x="9029700" y="4343400"/>
            <a:ext cx="247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파일 · 함수 · 라인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052C8E4-C4A7-4BFE-9C9A-8DF92FFE6143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10820400" cy="552450"/>
          </a:xfrm>
          <a:prstGeom prst="rect">
            <a:avLst/>
          </a:prstGeom>
          <a:solidFill>
            <a:srgbClr val="E6EB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ECC1B82-9599-4C3B-BDA6-00B5A5E1A9F8}"/>
              </a:ext>
            </a:extLst>
          </p:cNvPr>
          <p:cNvSpPr>
            <a:spLocks noGrp="1"/>
          </p:cNvSpPr>
          <p:nvPr/>
        </p:nvSpPr>
        <p:spPr>
          <a:xfrm>
            <a:off x="914400" y="5543550"/>
            <a:ext cx="1036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17308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08E"/>
                </a:solidFill>
                <a:latin typeface="Apple SD Gothic Neo"/>
                <a:ea typeface="Apple SD Gothic Neo"/>
                <a:cs typeface="Apple SD Gothic Neo"/>
              </a:rPr>
              <a:t>영향 가능성은 ‘오류 단정’이 아니라, 변경 후 함께 확인할 코드 후보를 뜻한다.</a:t>
            </a:r>
          </a:p>
        </p:txBody>
      </p:sp>
    </p:spTree>
    <p:extLst>
      <p:ext uri="{BB962C8B-B14F-4D97-AF65-F5344CB8AC3E}">
        <p14:creationId xmlns:p14="http://schemas.microsoft.com/office/powerpoint/2010/main" val="1840162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461C17FF-7808-4BA6-85ED-D904FC65F300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B9F627F-4077-4529-ACD0-A966C004035E}"/>
              </a:ext>
            </a:extLst>
          </p:cNvPr>
          <p:cNvSpPr>
            <a:spLocks noGrp="1"/>
          </p:cNvSpPr>
          <p:nvPr/>
        </p:nvSpPr>
        <p:spPr>
          <a:xfrm>
            <a:off x="1276350" y="4572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ARCHITECTURE</a:t>
            </a:r>
          </a:p>
        </p:txBody>
      </p:sp>
      <p:sp>
        <p:nvSpPr>
          <p:cNvPr id="3" name="slide-4-title">
            <a:extLst>
              <a:ext uri="{FF2B5EF4-FFF2-40B4-BE49-F238E27FC236}">
                <a16:creationId xmlns:a16="http://schemas.microsoft.com/office/drawing/2014/main" id="{C593F701-A427-401F-ACB8-68A04E799636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  <a:defRPr sz="36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dirty="0" err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정적</a:t>
            </a:r>
            <a:r>
              <a:rPr sz="3600" b="1" dirty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3600" b="1" dirty="0" err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분석이</a:t>
            </a:r>
            <a:r>
              <a:rPr sz="3600" b="1" dirty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3600" b="1" dirty="0" err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계산하고</a:t>
            </a:r>
            <a:r>
              <a:rPr sz="3600" b="1" dirty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3600" b="1" dirty="0" err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Gemini는</a:t>
            </a:r>
            <a:r>
              <a:rPr sz="3600" b="1" dirty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3600" b="1" dirty="0" err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해석·요약한다</a:t>
            </a:r>
            <a:r>
              <a:rPr lang="ko-KR" altLang="en-US" sz="3600" b="1" dirty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altLang="ko-KR" sz="3600" b="1" dirty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(Demo</a:t>
            </a:r>
            <a:r>
              <a:rPr lang="ko-KR" altLang="en-US" sz="3600" b="1" dirty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기준</a:t>
            </a:r>
            <a:r>
              <a:rPr lang="en-US" altLang="ko-KR" sz="3600" b="1" dirty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  <a:endParaRPr sz="3600" b="1" dirty="0">
              <a:solidFill>
                <a:srgbClr val="111318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20281C3-9F57-486F-A3EC-825ACB50DE8A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26873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626873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F279C2-49D2-484C-9EBE-B273E7905626}"/>
              </a:ext>
            </a:extLst>
          </p:cNvPr>
          <p:cNvSpPr>
            <a:spLocks noGrp="1"/>
          </p:cNvSpPr>
          <p:nvPr/>
        </p:nvSpPr>
        <p:spPr>
          <a:xfrm>
            <a:off x="1181100" y="641985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ARCHITECTURE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0573F0A-1C49-4907-9123-92DF6BA24880}"/>
              </a:ext>
            </a:extLst>
          </p:cNvPr>
          <p:cNvSpPr>
            <a:spLocks noGrp="1"/>
          </p:cNvSpPr>
          <p:nvPr/>
        </p:nvSpPr>
        <p:spPr>
          <a:xfrm>
            <a:off x="9791700" y="6419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CODE IMPACT AGENT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FB93A3F7-38E8-4868-BB87-E48A0B81253E}"/>
              </a:ext>
            </a:extLst>
          </p:cNvPr>
          <p:cNvSpPr>
            <a:spLocks noGrp="1"/>
          </p:cNvSpPr>
          <p:nvPr/>
        </p:nvSpPr>
        <p:spPr>
          <a:xfrm>
            <a:off x="685800" y="6267450"/>
            <a:ext cx="10820400" cy="0"/>
          </a:xfrm>
          <a:prstGeom prst="line">
            <a:avLst/>
          </a:prstGeom>
          <a:noFill/>
          <a:ln w="9525">
            <a:solidFill>
              <a:srgbClr val="D8D9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선 연결선[R] 7">
            <a:extLst>
              <a:ext uri="{FF2B5EF4-FFF2-40B4-BE49-F238E27FC236}">
                <a16:creationId xmlns:a16="http://schemas.microsoft.com/office/drawing/2014/main" id="{C09AE1D3-B03A-43CB-946C-DC7A6E89BFCE}"/>
              </a:ext>
            </a:extLst>
          </p:cNvPr>
          <p:cNvSpPr>
            <a:spLocks noGrp="1"/>
          </p:cNvSpPr>
          <p:nvPr/>
        </p:nvSpPr>
        <p:spPr>
          <a:xfrm>
            <a:off x="2171700" y="3048000"/>
            <a:ext cx="381000" cy="0"/>
          </a:xfrm>
          <a:prstGeom prst="line">
            <a:avLst/>
          </a:prstGeom>
          <a:noFill/>
          <a:ln w="28575">
            <a:solidFill>
              <a:srgbClr val="3157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FC8FA90-96C0-4E1C-AD0C-40B5AF02951A}"/>
              </a:ext>
            </a:extLst>
          </p:cNvPr>
          <p:cNvSpPr>
            <a:spLocks noGrp="1"/>
          </p:cNvSpPr>
          <p:nvPr/>
        </p:nvSpPr>
        <p:spPr>
          <a:xfrm>
            <a:off x="2171700" y="2857500"/>
            <a:ext cx="38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3157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157D5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0" name="직선 연결선[R] 9">
            <a:extLst>
              <a:ext uri="{FF2B5EF4-FFF2-40B4-BE49-F238E27FC236}">
                <a16:creationId xmlns:a16="http://schemas.microsoft.com/office/drawing/2014/main" id="{5BA9098F-C34B-4759-92C6-569434D49E60}"/>
              </a:ext>
            </a:extLst>
          </p:cNvPr>
          <p:cNvSpPr>
            <a:spLocks noGrp="1"/>
          </p:cNvSpPr>
          <p:nvPr/>
        </p:nvSpPr>
        <p:spPr>
          <a:xfrm>
            <a:off x="4038600" y="3048000"/>
            <a:ext cx="381000" cy="0"/>
          </a:xfrm>
          <a:prstGeom prst="line">
            <a:avLst/>
          </a:prstGeom>
          <a:noFill/>
          <a:ln w="28575">
            <a:solidFill>
              <a:srgbClr val="3157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2A6D23E-8F26-4238-BCF3-890A23FDBAC3}"/>
              </a:ext>
            </a:extLst>
          </p:cNvPr>
          <p:cNvSpPr>
            <a:spLocks noGrp="1"/>
          </p:cNvSpPr>
          <p:nvPr/>
        </p:nvSpPr>
        <p:spPr>
          <a:xfrm>
            <a:off x="4038600" y="2857500"/>
            <a:ext cx="38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3157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157D5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2" name="직선 연결선[R] 11">
            <a:extLst>
              <a:ext uri="{FF2B5EF4-FFF2-40B4-BE49-F238E27FC236}">
                <a16:creationId xmlns:a16="http://schemas.microsoft.com/office/drawing/2014/main" id="{8D881D68-9949-4993-92E9-21385C483860}"/>
              </a:ext>
            </a:extLst>
          </p:cNvPr>
          <p:cNvSpPr>
            <a:spLocks noGrp="1"/>
          </p:cNvSpPr>
          <p:nvPr/>
        </p:nvSpPr>
        <p:spPr>
          <a:xfrm>
            <a:off x="5905500" y="3048000"/>
            <a:ext cx="381000" cy="0"/>
          </a:xfrm>
          <a:prstGeom prst="line">
            <a:avLst/>
          </a:prstGeom>
          <a:noFill/>
          <a:ln w="28575">
            <a:solidFill>
              <a:srgbClr val="3157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EA6FDD1-9EF5-466C-9750-05D96CDCF20F}"/>
              </a:ext>
            </a:extLst>
          </p:cNvPr>
          <p:cNvSpPr>
            <a:spLocks noGrp="1"/>
          </p:cNvSpPr>
          <p:nvPr/>
        </p:nvSpPr>
        <p:spPr>
          <a:xfrm>
            <a:off x="5905500" y="2857500"/>
            <a:ext cx="38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3157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157D5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4" name="직선 연결선[R] 13">
            <a:extLst>
              <a:ext uri="{FF2B5EF4-FFF2-40B4-BE49-F238E27FC236}">
                <a16:creationId xmlns:a16="http://schemas.microsoft.com/office/drawing/2014/main" id="{9BB9E80B-2CA9-48CD-B4F9-BC2E9C931807}"/>
              </a:ext>
            </a:extLst>
          </p:cNvPr>
          <p:cNvSpPr>
            <a:spLocks noGrp="1"/>
          </p:cNvSpPr>
          <p:nvPr/>
        </p:nvSpPr>
        <p:spPr>
          <a:xfrm>
            <a:off x="7772400" y="3048000"/>
            <a:ext cx="381000" cy="0"/>
          </a:xfrm>
          <a:prstGeom prst="line">
            <a:avLst/>
          </a:prstGeom>
          <a:noFill/>
          <a:ln w="28575">
            <a:solidFill>
              <a:srgbClr val="3157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0A069F1-8A1F-42AF-8F9D-C3494F510902}"/>
              </a:ext>
            </a:extLst>
          </p:cNvPr>
          <p:cNvSpPr>
            <a:spLocks noGrp="1"/>
          </p:cNvSpPr>
          <p:nvPr/>
        </p:nvSpPr>
        <p:spPr>
          <a:xfrm>
            <a:off x="7772400" y="2857500"/>
            <a:ext cx="38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3157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157D5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6" name="직선 연결선[R] 15">
            <a:extLst>
              <a:ext uri="{FF2B5EF4-FFF2-40B4-BE49-F238E27FC236}">
                <a16:creationId xmlns:a16="http://schemas.microsoft.com/office/drawing/2014/main" id="{AA0E4767-29C8-46E5-B4D0-57518B7685CD}"/>
              </a:ext>
            </a:extLst>
          </p:cNvPr>
          <p:cNvSpPr>
            <a:spLocks noGrp="1"/>
          </p:cNvSpPr>
          <p:nvPr/>
        </p:nvSpPr>
        <p:spPr>
          <a:xfrm>
            <a:off x="9639300" y="3048000"/>
            <a:ext cx="381000" cy="0"/>
          </a:xfrm>
          <a:prstGeom prst="line">
            <a:avLst/>
          </a:prstGeom>
          <a:noFill/>
          <a:ln w="28575">
            <a:solidFill>
              <a:srgbClr val="3157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C855320-1653-4A88-895E-8E9B8FA677D3}"/>
              </a:ext>
            </a:extLst>
          </p:cNvPr>
          <p:cNvSpPr>
            <a:spLocks noGrp="1"/>
          </p:cNvSpPr>
          <p:nvPr/>
        </p:nvSpPr>
        <p:spPr>
          <a:xfrm>
            <a:off x="9639300" y="2857500"/>
            <a:ext cx="38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3157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157D5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37FAE88-EC8A-4C41-844E-2C16024B2335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1485900" cy="135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9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F54D469-8FD4-4FE2-BD19-6BA0267EBBCE}"/>
              </a:ext>
            </a:extLst>
          </p:cNvPr>
          <p:cNvSpPr>
            <a:spLocks noGrp="1"/>
          </p:cNvSpPr>
          <p:nvPr/>
        </p:nvSpPr>
        <p:spPr>
          <a:xfrm>
            <a:off x="800100" y="2647950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111318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111318"/>
                </a:solidFill>
                <a:latin typeface="Menlo"/>
                <a:ea typeface="Menlo"/>
                <a:cs typeface="Menlo"/>
              </a:rPr>
              <a:t>Question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0B3865D-20E8-4255-BC0C-F7C8D741ECF9}"/>
              </a:ext>
            </a:extLst>
          </p:cNvPr>
          <p:cNvSpPr>
            <a:spLocks noGrp="1"/>
          </p:cNvSpPr>
          <p:nvPr/>
        </p:nvSpPr>
        <p:spPr>
          <a:xfrm>
            <a:off x="800100" y="3124200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자연어 요청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7D570EA-D707-4220-AB44-02601C86ABCD}"/>
              </a:ext>
            </a:extLst>
          </p:cNvPr>
          <p:cNvSpPr>
            <a:spLocks noGrp="1"/>
          </p:cNvSpPr>
          <p:nvPr/>
        </p:nvSpPr>
        <p:spPr>
          <a:xfrm>
            <a:off x="2552700" y="2381250"/>
            <a:ext cx="1485900" cy="1352550"/>
          </a:xfrm>
          <a:prstGeom prst="rect">
            <a:avLst/>
          </a:prstGeom>
          <a:solidFill>
            <a:srgbClr val="3157D5"/>
          </a:solidFill>
          <a:ln w="19050">
            <a:solidFill>
              <a:srgbClr val="3157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2AE6534-3DA1-4944-B33D-E5D9DBFC98C2}"/>
              </a:ext>
            </a:extLst>
          </p:cNvPr>
          <p:cNvSpPr>
            <a:spLocks noGrp="1"/>
          </p:cNvSpPr>
          <p:nvPr/>
        </p:nvSpPr>
        <p:spPr>
          <a:xfrm>
            <a:off x="2667000" y="2647950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Gemini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551CEF2-AAF1-494F-84D9-036CA9E1DCB5}"/>
              </a:ext>
            </a:extLst>
          </p:cNvPr>
          <p:cNvSpPr>
            <a:spLocks noGrp="1"/>
          </p:cNvSpPr>
          <p:nvPr/>
        </p:nvSpPr>
        <p:spPr>
          <a:xfrm>
            <a:off x="2667000" y="3124200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75" b="0">
                <a:solidFill>
                  <a:srgbClr val="E6E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E6EBFF"/>
                </a:solidFill>
                <a:latin typeface="Apple SD Gothic Neo"/>
                <a:ea typeface="Apple SD Gothic Neo"/>
                <a:cs typeface="Apple SD Gothic Neo"/>
              </a:rPr>
              <a:t>Git ref · 범위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2C406F6-6B4F-471A-95DA-3C22ED32A08E}"/>
              </a:ext>
            </a:extLst>
          </p:cNvPr>
          <p:cNvSpPr>
            <a:spLocks noGrp="1"/>
          </p:cNvSpPr>
          <p:nvPr/>
        </p:nvSpPr>
        <p:spPr>
          <a:xfrm>
            <a:off x="4419600" y="2381250"/>
            <a:ext cx="1485900" cy="1352550"/>
          </a:xfrm>
          <a:prstGeom prst="rect">
            <a:avLst/>
          </a:prstGeom>
          <a:solidFill>
            <a:srgbClr val="3157D5"/>
          </a:solidFill>
          <a:ln w="19050">
            <a:solidFill>
              <a:srgbClr val="3157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E36E518-BC91-4542-B9F2-A16DE5853506}"/>
              </a:ext>
            </a:extLst>
          </p:cNvPr>
          <p:cNvSpPr>
            <a:spLocks noGrp="1"/>
          </p:cNvSpPr>
          <p:nvPr/>
        </p:nvSpPr>
        <p:spPr>
          <a:xfrm>
            <a:off x="4533900" y="2647950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LangGraph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E016BB5-B578-4709-91DA-895EB3457FC8}"/>
              </a:ext>
            </a:extLst>
          </p:cNvPr>
          <p:cNvSpPr>
            <a:spLocks noGrp="1"/>
          </p:cNvSpPr>
          <p:nvPr/>
        </p:nvSpPr>
        <p:spPr>
          <a:xfrm>
            <a:off x="4533900" y="3124200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75" b="0">
                <a:solidFill>
                  <a:srgbClr val="E6E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E6EBFF"/>
                </a:solidFill>
                <a:latin typeface="Apple SD Gothic Neo"/>
                <a:ea typeface="Apple SD Gothic Neo"/>
                <a:cs typeface="Apple SD Gothic Neo"/>
              </a:rPr>
              <a:t>Tool 선택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6AE796D-DDAE-499D-90E6-2E82E61C116C}"/>
              </a:ext>
            </a:extLst>
          </p:cNvPr>
          <p:cNvSpPr>
            <a:spLocks noGrp="1"/>
          </p:cNvSpPr>
          <p:nvPr/>
        </p:nvSpPr>
        <p:spPr>
          <a:xfrm>
            <a:off x="6286500" y="2381250"/>
            <a:ext cx="1485900" cy="135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9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4D152D9-73D7-488F-85DA-9A0397298639}"/>
              </a:ext>
            </a:extLst>
          </p:cNvPr>
          <p:cNvSpPr>
            <a:spLocks noGrp="1"/>
          </p:cNvSpPr>
          <p:nvPr/>
        </p:nvSpPr>
        <p:spPr>
          <a:xfrm>
            <a:off x="6400800" y="2647950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Git · AST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8EDFE7E-0298-4DA1-899B-961EDC8FAFF9}"/>
              </a:ext>
            </a:extLst>
          </p:cNvPr>
          <p:cNvSpPr>
            <a:spLocks noGrp="1"/>
          </p:cNvSpPr>
          <p:nvPr/>
        </p:nvSpPr>
        <p:spPr>
          <a:xfrm>
            <a:off x="6400800" y="3124200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SQLite 관계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BADED87-2765-486B-978B-71C093B9CF1B}"/>
              </a:ext>
            </a:extLst>
          </p:cNvPr>
          <p:cNvSpPr>
            <a:spLocks noGrp="1"/>
          </p:cNvSpPr>
          <p:nvPr/>
        </p:nvSpPr>
        <p:spPr>
          <a:xfrm>
            <a:off x="8153400" y="2381250"/>
            <a:ext cx="1485900" cy="1352550"/>
          </a:xfrm>
          <a:prstGeom prst="rect">
            <a:avLst/>
          </a:prstGeom>
          <a:solidFill>
            <a:srgbClr val="DFF4EE"/>
          </a:solidFill>
          <a:ln w="19050">
            <a:solidFill>
              <a:srgbClr val="138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DA4564B-F5FC-4C5E-AB84-E7029FA0094B}"/>
              </a:ext>
            </a:extLst>
          </p:cNvPr>
          <p:cNvSpPr>
            <a:spLocks noGrp="1"/>
          </p:cNvSpPr>
          <p:nvPr/>
        </p:nvSpPr>
        <p:spPr>
          <a:xfrm>
            <a:off x="8267700" y="2647950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138A72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138A72"/>
                </a:solidFill>
                <a:latin typeface="Menlo"/>
                <a:ea typeface="Menlo"/>
                <a:cs typeface="Menlo"/>
              </a:rPr>
              <a:t>Evidence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6D57466-2C1F-48EA-84F0-35E04E1068E7}"/>
              </a:ext>
            </a:extLst>
          </p:cNvPr>
          <p:cNvSpPr>
            <a:spLocks noGrp="1"/>
          </p:cNvSpPr>
          <p:nvPr/>
        </p:nvSpPr>
        <p:spPr>
          <a:xfrm>
            <a:off x="8267700" y="3124200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파일 · 라인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31198B8-C6AB-4BD7-BC4C-BEBEBCC2F65B}"/>
              </a:ext>
            </a:extLst>
          </p:cNvPr>
          <p:cNvSpPr>
            <a:spLocks noGrp="1"/>
          </p:cNvSpPr>
          <p:nvPr/>
        </p:nvSpPr>
        <p:spPr>
          <a:xfrm>
            <a:off x="10020300" y="2381250"/>
            <a:ext cx="1485900" cy="135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9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83A9AD6-B0AB-4149-AA92-5DE9FD4EE67C}"/>
              </a:ext>
            </a:extLst>
          </p:cNvPr>
          <p:cNvSpPr>
            <a:spLocks noGrp="1"/>
          </p:cNvSpPr>
          <p:nvPr/>
        </p:nvSpPr>
        <p:spPr>
          <a:xfrm>
            <a:off x="10134600" y="2647950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Report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BB44EB5-F64C-469C-80AB-DB4EF2D37D50}"/>
              </a:ext>
            </a:extLst>
          </p:cNvPr>
          <p:cNvSpPr>
            <a:spLocks noGrp="1"/>
          </p:cNvSpPr>
          <p:nvPr/>
        </p:nvSpPr>
        <p:spPr>
          <a:xfrm>
            <a:off x="10134600" y="3124200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요약 · 결과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F9E8A98-394C-4EA3-B427-3064BB364B82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3157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157D5"/>
                </a:solidFill>
                <a:latin typeface="Apple SD Gothic Neo"/>
                <a:ea typeface="Apple SD Gothic Neo"/>
                <a:cs typeface="Apple SD Gothic Neo"/>
              </a:rPr>
              <a:t>역할의 경계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02BCB21-D4FC-4DC1-9BBD-AB9CC5548CD7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914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Tool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71D4D1B-6C2A-4643-9044-78DCCB286AF0}"/>
              </a:ext>
            </a:extLst>
          </p:cNvPr>
          <p:cNvSpPr>
            <a:spLocks noGrp="1"/>
          </p:cNvSpPr>
          <p:nvPr/>
        </p:nvSpPr>
        <p:spPr>
          <a:xfrm>
            <a:off x="1581150" y="4648200"/>
            <a:ext cx="2552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호출 관계 계산 · 근거 ID 발급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3FC214E-7509-4132-9A9D-D691FC150DA1}"/>
              </a:ext>
            </a:extLst>
          </p:cNvPr>
          <p:cNvSpPr>
            <a:spLocks noGrp="1"/>
          </p:cNvSpPr>
          <p:nvPr/>
        </p:nvSpPr>
        <p:spPr>
          <a:xfrm>
            <a:off x="4324350" y="4648200"/>
            <a:ext cx="1200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Gemini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9E9002E-68B8-401B-ADFF-776F8F741F90}"/>
              </a:ext>
            </a:extLst>
          </p:cNvPr>
          <p:cNvSpPr>
            <a:spLocks noGrp="1"/>
          </p:cNvSpPr>
          <p:nvPr/>
        </p:nvSpPr>
        <p:spPr>
          <a:xfrm>
            <a:off x="5467350" y="4648200"/>
            <a:ext cx="2724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질문 구조화 · 검증 근거 요약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F0C6C16-27AB-42C2-8F19-689F31B0494A}"/>
              </a:ext>
            </a:extLst>
          </p:cNvPr>
          <p:cNvSpPr>
            <a:spLocks noGrp="1"/>
          </p:cNvSpPr>
          <p:nvPr/>
        </p:nvSpPr>
        <p:spPr>
          <a:xfrm>
            <a:off x="8439150" y="4648200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LangGraph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AEDFCA4-5CC5-436D-8962-BAAC557FBAE1}"/>
              </a:ext>
            </a:extLst>
          </p:cNvPr>
          <p:cNvSpPr>
            <a:spLocks noGrp="1"/>
          </p:cNvSpPr>
          <p:nvPr/>
        </p:nvSpPr>
        <p:spPr>
          <a:xfrm>
            <a:off x="9810750" y="4648200"/>
            <a:ext cx="1695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Tool 선택 · 중단 조건</a:t>
            </a:r>
          </a:p>
        </p:txBody>
      </p:sp>
      <p:sp>
        <p:nvSpPr>
          <p:cNvPr id="43" name="직선 연결선[R] 42">
            <a:extLst>
              <a:ext uri="{FF2B5EF4-FFF2-40B4-BE49-F238E27FC236}">
                <a16:creationId xmlns:a16="http://schemas.microsoft.com/office/drawing/2014/main" id="{2904E878-8E98-48A9-9D38-4FC4478B0D25}"/>
              </a:ext>
            </a:extLst>
          </p:cNvPr>
          <p:cNvSpPr>
            <a:spLocks noGrp="1"/>
          </p:cNvSpPr>
          <p:nvPr/>
        </p:nvSpPr>
        <p:spPr>
          <a:xfrm>
            <a:off x="685800" y="5257800"/>
            <a:ext cx="10820400" cy="0"/>
          </a:xfrm>
          <a:prstGeom prst="line">
            <a:avLst/>
          </a:prstGeom>
          <a:noFill/>
          <a:ln w="9525">
            <a:solidFill>
              <a:srgbClr val="D8D9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DB9859E-1CF9-4E57-BB07-23F4DAEB3C37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D9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D95D4F"/>
                </a:solidFill>
                <a:latin typeface="Apple SD Gothic Neo"/>
                <a:ea typeface="Apple SD Gothic Neo"/>
                <a:cs typeface="Apple SD Gothic Neo"/>
              </a:rPr>
              <a:t>Gemini는 호출 관계를 계산하지 않으며, Tool이 발급한 근거 ID만 인용할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1314779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0C28FDFC-90AC-426E-9C00-E2D13BC28FD1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883C6BD-15EE-41F2-8F8D-17853152E704}"/>
              </a:ext>
            </a:extLst>
          </p:cNvPr>
          <p:cNvSpPr>
            <a:spLocks noGrp="1"/>
          </p:cNvSpPr>
          <p:nvPr/>
        </p:nvSpPr>
        <p:spPr>
          <a:xfrm>
            <a:off x="1276350" y="4572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DEMO</a:t>
            </a:r>
          </a:p>
        </p:txBody>
      </p:sp>
      <p:sp>
        <p:nvSpPr>
          <p:cNvPr id="3" name="slide-5-title">
            <a:extLst>
              <a:ext uri="{FF2B5EF4-FFF2-40B4-BE49-F238E27FC236}">
                <a16:creationId xmlns:a16="http://schemas.microsoft.com/office/drawing/2014/main" id="{B3F3C1FE-EE09-42C6-9A5F-0C68BFCF9FBB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  <a:defRPr sz="36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안전거리 변경으로 2단계 영향을 재현했다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228B0B-D31A-4345-AA7D-6C432ABD641F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26873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626873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E4EF12-205B-42DF-8292-8FAA3EEBA4AE}"/>
              </a:ext>
            </a:extLst>
          </p:cNvPr>
          <p:cNvSpPr>
            <a:spLocks noGrp="1"/>
          </p:cNvSpPr>
          <p:nvPr/>
        </p:nvSpPr>
        <p:spPr>
          <a:xfrm>
            <a:off x="1181100" y="641985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DEMO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6BF6BC6-E495-44B3-8BA6-E5FFC3D0DF1A}"/>
              </a:ext>
            </a:extLst>
          </p:cNvPr>
          <p:cNvSpPr>
            <a:spLocks noGrp="1"/>
          </p:cNvSpPr>
          <p:nvPr/>
        </p:nvSpPr>
        <p:spPr>
          <a:xfrm>
            <a:off x="9791700" y="6419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CODE IMPACT AGENT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8EBC27CF-3EF7-4BE7-A169-638922F1CCEE}"/>
              </a:ext>
            </a:extLst>
          </p:cNvPr>
          <p:cNvSpPr>
            <a:spLocks noGrp="1"/>
          </p:cNvSpPr>
          <p:nvPr/>
        </p:nvSpPr>
        <p:spPr>
          <a:xfrm>
            <a:off x="685800" y="6267450"/>
            <a:ext cx="10820400" cy="0"/>
          </a:xfrm>
          <a:prstGeom prst="line">
            <a:avLst/>
          </a:prstGeom>
          <a:noFill/>
          <a:ln w="9525">
            <a:solidFill>
              <a:srgbClr val="D8D9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A9ADD3B-1A35-4D67-9B4E-9E0ACE78C255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626873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626873"/>
                </a:solidFill>
                <a:latin typeface="Menlo"/>
                <a:ea typeface="Menlo"/>
                <a:cs typeface="Menlo"/>
              </a:rPr>
              <a:t>AV-SIM COMMIT TIMELINE</a:t>
            </a:r>
          </a:p>
        </p:txBody>
      </p:sp>
      <p:sp>
        <p:nvSpPr>
          <p:cNvPr id="9" name="직선 연결선[R] 8">
            <a:extLst>
              <a:ext uri="{FF2B5EF4-FFF2-40B4-BE49-F238E27FC236}">
                <a16:creationId xmlns:a16="http://schemas.microsoft.com/office/drawing/2014/main" id="{C4D05579-B301-4B4F-9902-1758CD5C9784}"/>
              </a:ext>
            </a:extLst>
          </p:cNvPr>
          <p:cNvSpPr>
            <a:spLocks noGrp="1"/>
          </p:cNvSpPr>
          <p:nvPr/>
        </p:nvSpPr>
        <p:spPr>
          <a:xfrm>
            <a:off x="952500" y="2381250"/>
            <a:ext cx="10287000" cy="0"/>
          </a:xfrm>
          <a:prstGeom prst="line">
            <a:avLst/>
          </a:prstGeom>
          <a:noFill/>
          <a:ln w="38100">
            <a:solidFill>
              <a:srgbClr val="D8D9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5D0295A-CB6F-4E1E-8ED6-B1D49EE0C28C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342900" cy="342900"/>
          </a:xfrm>
          <a:prstGeom prst="ellipse">
            <a:avLst/>
          </a:prstGeom>
          <a:solidFill>
            <a:srgbClr val="626873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3E9D89-D41D-427E-9713-685A40BA6C91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626873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626873"/>
                </a:solidFill>
                <a:latin typeface="Menlo"/>
                <a:ea typeface="Menlo"/>
                <a:cs typeface="Menlo"/>
              </a:rPr>
              <a:t>demo-baseline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C0E1EF9-D29E-4A19-BE25-00AAD0EC7C52}"/>
              </a:ext>
            </a:extLst>
          </p:cNvPr>
          <p:cNvSpPr>
            <a:spLocks noGrp="1"/>
          </p:cNvSpPr>
          <p:nvPr/>
        </p:nvSpPr>
        <p:spPr>
          <a:xfrm>
            <a:off x="723900" y="30670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최초 코드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498565B-8D19-48B1-AAB7-C0D856CC9458}"/>
              </a:ext>
            </a:extLst>
          </p:cNvPr>
          <p:cNvSpPr>
            <a:spLocks noGrp="1"/>
          </p:cNvSpPr>
          <p:nvPr/>
        </p:nvSpPr>
        <p:spPr>
          <a:xfrm>
            <a:off x="4686300" y="2209800"/>
            <a:ext cx="342900" cy="342900"/>
          </a:xfrm>
          <a:prstGeom prst="ellipse">
            <a:avLst/>
          </a:prstGeom>
          <a:solidFill>
            <a:srgbClr val="3157D5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85928C-6484-4E9A-8836-6E3FE96B1379}"/>
              </a:ext>
            </a:extLst>
          </p:cNvPr>
          <p:cNvSpPr>
            <a:spLocks noGrp="1"/>
          </p:cNvSpPr>
          <p:nvPr/>
        </p:nvSpPr>
        <p:spPr>
          <a:xfrm>
            <a:off x="4572000" y="27241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demo-safety-change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7BF0CC9-65CB-4BCA-8F56-7E1E76970FBD}"/>
              </a:ext>
            </a:extLst>
          </p:cNvPr>
          <p:cNvSpPr>
            <a:spLocks noGrp="1"/>
          </p:cNvSpPr>
          <p:nvPr/>
        </p:nvSpPr>
        <p:spPr>
          <a:xfrm>
            <a:off x="4572000" y="30670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안전거리 계산 변경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BA9A5031-197C-4A34-81F8-D586E206DF03}"/>
              </a:ext>
            </a:extLst>
          </p:cNvPr>
          <p:cNvSpPr>
            <a:spLocks noGrp="1"/>
          </p:cNvSpPr>
          <p:nvPr/>
        </p:nvSpPr>
        <p:spPr>
          <a:xfrm>
            <a:off x="8629650" y="2209800"/>
            <a:ext cx="342900" cy="342900"/>
          </a:xfrm>
          <a:prstGeom prst="ellipse">
            <a:avLst/>
          </a:prstGeom>
          <a:solidFill>
            <a:srgbClr val="D95D4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1CC3055-27C4-43CF-AED6-93929119F66A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D95D4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D95D4F"/>
                </a:solidFill>
                <a:latin typeface="Menlo"/>
                <a:ea typeface="Menlo"/>
                <a:cs typeface="Menlo"/>
              </a:rPr>
              <a:t>demo-docs-only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FA34D8F-40FD-48A2-806B-78314E33A1E8}"/>
              </a:ext>
            </a:extLst>
          </p:cNvPr>
          <p:cNvSpPr>
            <a:spLocks noGrp="1"/>
          </p:cNvSpPr>
          <p:nvPr/>
        </p:nvSpPr>
        <p:spPr>
          <a:xfrm>
            <a:off x="8515350" y="30670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문서만 변경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236512B-57E5-409F-8416-E19FB2C549E0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5334000" cy="1905000"/>
          </a:xfrm>
          <a:prstGeom prst="rect">
            <a:avLst/>
          </a:prstGeom>
          <a:solidFill>
            <a:srgbClr val="16192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7023730-EBC8-4F0E-974C-444EB2F9B957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AEB6C7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AEB6C7"/>
                </a:solidFill>
                <a:latin typeface="Menlo"/>
                <a:ea typeface="Menlo"/>
                <a:cs typeface="Menlo"/>
              </a:rPr>
              <a:t>control/safety_check.py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06DC376-6BE3-4EA9-B8AC-4C6EF48FB62A}"/>
              </a:ext>
            </a:extLst>
          </p:cNvPr>
          <p:cNvSpPr>
            <a:spLocks noGrp="1"/>
          </p:cNvSpPr>
          <p:nvPr/>
        </p:nvSpPr>
        <p:spPr>
          <a:xfrm>
            <a:off x="914400" y="440055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FF9D94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9D94"/>
                </a:solidFill>
                <a:latin typeface="Menlo"/>
                <a:ea typeface="Menlo"/>
                <a:cs typeface="Menlo"/>
              </a:rPr>
              <a:t>− return max(3.0, speed_mps * 0.8)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A0F15F8-D346-4FB9-9EBE-2FD7E17FBF7A}"/>
              </a:ext>
            </a:extLst>
          </p:cNvPr>
          <p:cNvSpPr>
            <a:spLocks noGrp="1"/>
          </p:cNvSpPr>
          <p:nvPr/>
        </p:nvSpPr>
        <p:spPr>
          <a:xfrm>
            <a:off x="914400" y="480060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7BE0C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7BE0C2"/>
                </a:solidFill>
                <a:latin typeface="Menlo"/>
                <a:ea typeface="Menlo"/>
                <a:cs typeface="Menlo"/>
              </a:rPr>
              <a:t>+ reaction_distance = speed_mps * 1.2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3358F10-F73D-4E3B-8E94-D00C819C2008}"/>
              </a:ext>
            </a:extLst>
          </p:cNvPr>
          <p:cNvSpPr>
            <a:spLocks noGrp="1"/>
          </p:cNvSpPr>
          <p:nvPr/>
        </p:nvSpPr>
        <p:spPr>
          <a:xfrm>
            <a:off x="914400" y="5105400"/>
            <a:ext cx="4857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7BE0C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7BE0C2"/>
                </a:solidFill>
                <a:latin typeface="Menlo"/>
                <a:ea typeface="Menlo"/>
                <a:cs typeface="Menlo"/>
              </a:rPr>
              <a:t>+ return max(5.0,</a:t>
            </a:r>
          </a:p>
          <a:p>
            <a:pPr algn="l">
              <a:lnSpc>
                <a:spcPct val="112000"/>
              </a:lnSpc>
              <a:buNone/>
              <a:defRPr sz="1575" b="0">
                <a:solidFill>
                  <a:srgbClr val="7BE0C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7BE0C2"/>
                </a:solidFill>
                <a:latin typeface="Menlo"/>
                <a:ea typeface="Menlo"/>
                <a:cs typeface="Menlo"/>
              </a:rPr>
              <a:t>  reaction_distance + 2.0)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F1C83CA-0FE0-4028-8D2D-6C7FD1DF0521}"/>
              </a:ext>
            </a:extLst>
          </p:cNvPr>
          <p:cNvSpPr>
            <a:spLocks noGrp="1"/>
          </p:cNvSpPr>
          <p:nvPr/>
        </p:nvSpPr>
        <p:spPr>
          <a:xfrm>
            <a:off x="6705600" y="38671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3157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157D5"/>
                </a:solidFill>
                <a:latin typeface="Apple SD Gothic Neo"/>
                <a:ea typeface="Apple SD Gothic Neo"/>
                <a:cs typeface="Apple SD Gothic Neo"/>
              </a:rPr>
              <a:t>검증 질문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CE7E605-732C-4C16-812E-CAB3E1894E45}"/>
              </a:ext>
            </a:extLst>
          </p:cNvPr>
          <p:cNvSpPr>
            <a:spLocks noGrp="1"/>
          </p:cNvSpPr>
          <p:nvPr/>
        </p:nvSpPr>
        <p:spPr>
          <a:xfrm>
            <a:off x="6705600" y="4305300"/>
            <a:ext cx="4667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“demo-safety-change 커밋의</a:t>
            </a:r>
          </a:p>
          <a:p>
            <a:pPr algn="l">
              <a:lnSpc>
                <a:spcPct val="108000"/>
              </a:lnSpc>
              <a:buNone/>
              <a:defRPr sz="21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영향 범위와 테스트를 알려줘.”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A184E14-8EFC-46E4-BA05-E2BEDC13BEA5}"/>
              </a:ext>
            </a:extLst>
          </p:cNvPr>
          <p:cNvSpPr>
            <a:spLocks noGrp="1"/>
          </p:cNvSpPr>
          <p:nvPr/>
        </p:nvSpPr>
        <p:spPr>
          <a:xfrm>
            <a:off x="6705600" y="5353050"/>
            <a:ext cx="466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Gemini의 구조화 응답이 Git ref와 요청 범위를 분리해 전달한다.</a:t>
            </a:r>
          </a:p>
        </p:txBody>
      </p:sp>
    </p:spTree>
    <p:extLst>
      <p:ext uri="{BB962C8B-B14F-4D97-AF65-F5344CB8AC3E}">
        <p14:creationId xmlns:p14="http://schemas.microsoft.com/office/powerpoint/2010/main" val="1420394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015F3981-76AB-47A0-A96B-D178D4E89B99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BCE479F-39F5-45CC-9DAA-930FCDCAD89B}"/>
              </a:ext>
            </a:extLst>
          </p:cNvPr>
          <p:cNvSpPr>
            <a:spLocks noGrp="1"/>
          </p:cNvSpPr>
          <p:nvPr/>
        </p:nvSpPr>
        <p:spPr>
          <a:xfrm>
            <a:off x="1276350" y="4572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DEMO RESULT</a:t>
            </a:r>
          </a:p>
        </p:txBody>
      </p:sp>
      <p:sp>
        <p:nvSpPr>
          <p:cNvPr id="3" name="slide-6-title">
            <a:extLst>
              <a:ext uri="{FF2B5EF4-FFF2-40B4-BE49-F238E27FC236}">
                <a16:creationId xmlns:a16="http://schemas.microsoft.com/office/drawing/2014/main" id="{A40DD1AD-F8FF-4FBC-9B51-48DA5FCD5A96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10820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  <a:defRPr sz="37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1개 변경이 2개 영향 함수와</a:t>
            </a:r>
          </a:p>
          <a:p>
            <a:pPr algn="l">
              <a:lnSpc>
                <a:spcPct val="92000"/>
              </a:lnSpc>
              <a:buNone/>
              <a:defRPr sz="37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3개 테스트로 이어졌다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E022293-AF3B-4295-880C-C8379638EE8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26873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626873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F7CD530-C7C9-401A-8319-A096CCD676DC}"/>
              </a:ext>
            </a:extLst>
          </p:cNvPr>
          <p:cNvSpPr>
            <a:spLocks noGrp="1"/>
          </p:cNvSpPr>
          <p:nvPr/>
        </p:nvSpPr>
        <p:spPr>
          <a:xfrm>
            <a:off x="1181100" y="641985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DEMO RESULT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6BBF798-0BA9-4444-9BA7-5940086ADC05}"/>
              </a:ext>
            </a:extLst>
          </p:cNvPr>
          <p:cNvSpPr>
            <a:spLocks noGrp="1"/>
          </p:cNvSpPr>
          <p:nvPr/>
        </p:nvSpPr>
        <p:spPr>
          <a:xfrm>
            <a:off x="9791700" y="6419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CODE IMPACT AGENT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517BF857-1A65-4842-B61F-26C611730657}"/>
              </a:ext>
            </a:extLst>
          </p:cNvPr>
          <p:cNvSpPr>
            <a:spLocks noGrp="1"/>
          </p:cNvSpPr>
          <p:nvPr/>
        </p:nvSpPr>
        <p:spPr>
          <a:xfrm>
            <a:off x="685800" y="6267450"/>
            <a:ext cx="10820400" cy="0"/>
          </a:xfrm>
          <a:prstGeom prst="line">
            <a:avLst/>
          </a:prstGeom>
          <a:noFill/>
          <a:ln w="9525">
            <a:solidFill>
              <a:srgbClr val="D8D9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metric-변경 함수">
            <a:extLst>
              <a:ext uri="{FF2B5EF4-FFF2-40B4-BE49-F238E27FC236}">
                <a16:creationId xmlns:a16="http://schemas.microsoft.com/office/drawing/2014/main" id="{B4F3B7E6-1095-44C0-ADD1-31DCB060A756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1619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5100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5100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4596B28-8D6A-4CC3-AAE5-81B9C91B6437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변경 함수</a:t>
            </a:r>
          </a:p>
        </p:txBody>
      </p:sp>
      <p:sp>
        <p:nvSpPr>
          <p:cNvPr id="10" name="직선 연결선[R] 9">
            <a:extLst>
              <a:ext uri="{FF2B5EF4-FFF2-40B4-BE49-F238E27FC236}">
                <a16:creationId xmlns:a16="http://schemas.microsoft.com/office/drawing/2014/main" id="{67B8D581-6282-4417-AE27-5E4456B5C0C0}"/>
              </a:ext>
            </a:extLst>
          </p:cNvPr>
          <p:cNvSpPr>
            <a:spLocks noGrp="1"/>
          </p:cNvSpPr>
          <p:nvPr/>
        </p:nvSpPr>
        <p:spPr>
          <a:xfrm>
            <a:off x="2495550" y="2305050"/>
            <a:ext cx="0" cy="1143000"/>
          </a:xfrm>
          <a:prstGeom prst="line">
            <a:avLst/>
          </a:prstGeom>
          <a:noFill/>
          <a:ln w="9525">
            <a:solidFill>
              <a:srgbClr val="D8D9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metric-영향 함수">
            <a:extLst>
              <a:ext uri="{FF2B5EF4-FFF2-40B4-BE49-F238E27FC236}">
                <a16:creationId xmlns:a16="http://schemas.microsoft.com/office/drawing/2014/main" id="{951C6FFC-B711-4AB4-B512-271CDF6DBDC2}"/>
              </a:ext>
            </a:extLst>
          </p:cNvPr>
          <p:cNvSpPr>
            <a:spLocks noGrp="1"/>
          </p:cNvSpPr>
          <p:nvPr/>
        </p:nvSpPr>
        <p:spPr>
          <a:xfrm>
            <a:off x="2914650" y="2266950"/>
            <a:ext cx="1619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5100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5100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ADE8A4-F929-441F-AD35-218C5EBCDE59}"/>
              </a:ext>
            </a:extLst>
          </p:cNvPr>
          <p:cNvSpPr>
            <a:spLocks noGrp="1"/>
          </p:cNvSpPr>
          <p:nvPr/>
        </p:nvSpPr>
        <p:spPr>
          <a:xfrm>
            <a:off x="2914650" y="30480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영향 함수</a:t>
            </a:r>
          </a:p>
        </p:txBody>
      </p:sp>
      <p:sp>
        <p:nvSpPr>
          <p:cNvPr id="13" name="직선 연결선[R] 12">
            <a:extLst>
              <a:ext uri="{FF2B5EF4-FFF2-40B4-BE49-F238E27FC236}">
                <a16:creationId xmlns:a16="http://schemas.microsoft.com/office/drawing/2014/main" id="{C54622C2-D54F-420E-A108-E1A0D3758AB3}"/>
              </a:ext>
            </a:extLst>
          </p:cNvPr>
          <p:cNvSpPr>
            <a:spLocks noGrp="1"/>
          </p:cNvSpPr>
          <p:nvPr/>
        </p:nvSpPr>
        <p:spPr>
          <a:xfrm>
            <a:off x="4724400" y="2305050"/>
            <a:ext cx="0" cy="1143000"/>
          </a:xfrm>
          <a:prstGeom prst="line">
            <a:avLst/>
          </a:prstGeom>
          <a:noFill/>
          <a:ln w="9525">
            <a:solidFill>
              <a:srgbClr val="D8D9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metric-권장 테스트">
            <a:extLst>
              <a:ext uri="{FF2B5EF4-FFF2-40B4-BE49-F238E27FC236}">
                <a16:creationId xmlns:a16="http://schemas.microsoft.com/office/drawing/2014/main" id="{2272F6CF-77E3-4A57-9F0B-B38F47D4CA48}"/>
              </a:ext>
            </a:extLst>
          </p:cNvPr>
          <p:cNvSpPr>
            <a:spLocks noGrp="1"/>
          </p:cNvSpPr>
          <p:nvPr/>
        </p:nvSpPr>
        <p:spPr>
          <a:xfrm>
            <a:off x="5143500" y="2266950"/>
            <a:ext cx="1809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5100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5100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33874EC-519D-4392-88B5-3677F7652016}"/>
              </a:ext>
            </a:extLst>
          </p:cNvPr>
          <p:cNvSpPr>
            <a:spLocks noGrp="1"/>
          </p:cNvSpPr>
          <p:nvPr/>
        </p:nvSpPr>
        <p:spPr>
          <a:xfrm>
            <a:off x="5143500" y="30480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권장 테스트</a:t>
            </a:r>
          </a:p>
        </p:txBody>
      </p:sp>
      <p:sp>
        <p:nvSpPr>
          <p:cNvPr id="16" name="직선 연결선[R] 15">
            <a:extLst>
              <a:ext uri="{FF2B5EF4-FFF2-40B4-BE49-F238E27FC236}">
                <a16:creationId xmlns:a16="http://schemas.microsoft.com/office/drawing/2014/main" id="{0CB4483F-1A6B-4DAF-A10C-EB77A18F3E18}"/>
              </a:ext>
            </a:extLst>
          </p:cNvPr>
          <p:cNvSpPr>
            <a:spLocks noGrp="1"/>
          </p:cNvSpPr>
          <p:nvPr/>
        </p:nvSpPr>
        <p:spPr>
          <a:xfrm>
            <a:off x="7162800" y="2305050"/>
            <a:ext cx="0" cy="1143000"/>
          </a:xfrm>
          <a:prstGeom prst="line">
            <a:avLst/>
          </a:prstGeom>
          <a:noFill/>
          <a:ln w="9525">
            <a:solidFill>
              <a:srgbClr val="D8D9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metric-유효 근거">
            <a:extLst>
              <a:ext uri="{FF2B5EF4-FFF2-40B4-BE49-F238E27FC236}">
                <a16:creationId xmlns:a16="http://schemas.microsoft.com/office/drawing/2014/main" id="{5243B139-894E-4B36-B8EA-370CE7DC364F}"/>
              </a:ext>
            </a:extLst>
          </p:cNvPr>
          <p:cNvSpPr>
            <a:spLocks noGrp="1"/>
          </p:cNvSpPr>
          <p:nvPr/>
        </p:nvSpPr>
        <p:spPr>
          <a:xfrm>
            <a:off x="7600950" y="2266950"/>
            <a:ext cx="209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5100" b="1">
                <a:solidFill>
                  <a:srgbClr val="138A72"/>
                </a:solidFill>
                <a:latin typeface="Menlo"/>
                <a:ea typeface="Menlo"/>
                <a:cs typeface="Menlo"/>
              </a:defRPr>
            </a:pPr>
            <a:r>
              <a:rPr sz="5100" b="1">
                <a:solidFill>
                  <a:srgbClr val="138A72"/>
                </a:solidFill>
                <a:latin typeface="Menlo"/>
                <a:ea typeface="Menlo"/>
                <a:cs typeface="Menlo"/>
              </a:rPr>
              <a:t>6/6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0CBD9FC-5B94-4EAC-837D-AD2E3F7873F2}"/>
              </a:ext>
            </a:extLst>
          </p:cNvPr>
          <p:cNvSpPr>
            <a:spLocks noGrp="1"/>
          </p:cNvSpPr>
          <p:nvPr/>
        </p:nvSpPr>
        <p:spPr>
          <a:xfrm>
            <a:off x="7600950" y="30480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유효 근거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8287CD7-C81C-413C-A25C-6EF33F5EB141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호출 관계</a:t>
            </a:r>
          </a:p>
        </p:txBody>
      </p:sp>
      <p:sp>
        <p:nvSpPr>
          <p:cNvPr id="20" name="직선 연결선[R] 19">
            <a:extLst>
              <a:ext uri="{FF2B5EF4-FFF2-40B4-BE49-F238E27FC236}">
                <a16:creationId xmlns:a16="http://schemas.microsoft.com/office/drawing/2014/main" id="{2D5B1AC5-5BEA-4B88-BF15-37B4A8CD4463}"/>
              </a:ext>
            </a:extLst>
          </p:cNvPr>
          <p:cNvSpPr>
            <a:spLocks noGrp="1"/>
          </p:cNvSpPr>
          <p:nvPr/>
        </p:nvSpPr>
        <p:spPr>
          <a:xfrm>
            <a:off x="990600" y="4743450"/>
            <a:ext cx="8286750" cy="0"/>
          </a:xfrm>
          <a:prstGeom prst="line">
            <a:avLst/>
          </a:prstGeom>
          <a:noFill/>
          <a:ln w="38100">
            <a:solidFill>
              <a:srgbClr val="3157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F58EB66-B073-48C8-AF64-F010AC740482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2571750" cy="10287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57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44AF1A8-32B3-4572-A677-1DCF0EF597C6}"/>
              </a:ext>
            </a:extLst>
          </p:cNvPr>
          <p:cNvSpPr>
            <a:spLocks noGrp="1"/>
          </p:cNvSpPr>
          <p:nvPr/>
        </p:nvSpPr>
        <p:spPr>
          <a:xfrm>
            <a:off x="857250" y="4533900"/>
            <a:ext cx="2228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buNone/>
              <a:defRPr sz="1500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minimum_safe_</a:t>
            </a:r>
          </a:p>
          <a:p>
            <a:pPr algn="ctr">
              <a:lnSpc>
                <a:spcPct val="96000"/>
              </a:lnSpc>
              <a:buNone/>
              <a:defRPr sz="1500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distance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BD7850C-F54F-4FE2-89F3-7C60D2B35933}"/>
              </a:ext>
            </a:extLst>
          </p:cNvPr>
          <p:cNvSpPr>
            <a:spLocks noGrp="1"/>
          </p:cNvSpPr>
          <p:nvPr/>
        </p:nvSpPr>
        <p:spPr>
          <a:xfrm>
            <a:off x="857250" y="5105400"/>
            <a:ext cx="2228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42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변경 함수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C101F77-138C-4D09-BCC9-C5F6F16CE6EE}"/>
              </a:ext>
            </a:extLst>
          </p:cNvPr>
          <p:cNvSpPr>
            <a:spLocks noGrp="1"/>
          </p:cNvSpPr>
          <p:nvPr/>
        </p:nvSpPr>
        <p:spPr>
          <a:xfrm>
            <a:off x="3829050" y="4400550"/>
            <a:ext cx="2571750" cy="10287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57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9501F04-0F95-454B-BBDE-C47EBC3932CB}"/>
              </a:ext>
            </a:extLst>
          </p:cNvPr>
          <p:cNvSpPr>
            <a:spLocks noGrp="1"/>
          </p:cNvSpPr>
          <p:nvPr/>
        </p:nvSpPr>
        <p:spPr>
          <a:xfrm>
            <a:off x="4000500" y="4533900"/>
            <a:ext cx="2228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buNone/>
              <a:defRPr sz="1500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is_path_safe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FB7652D-BFC9-485C-A5EB-F3C53205536C}"/>
              </a:ext>
            </a:extLst>
          </p:cNvPr>
          <p:cNvSpPr>
            <a:spLocks noGrp="1"/>
          </p:cNvSpPr>
          <p:nvPr/>
        </p:nvSpPr>
        <p:spPr>
          <a:xfrm>
            <a:off x="4000500" y="5105400"/>
            <a:ext cx="2228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42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1단계 호출자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642BD0F-C94F-4C24-B2BE-38C347BAF4A0}"/>
              </a:ext>
            </a:extLst>
          </p:cNvPr>
          <p:cNvSpPr>
            <a:spLocks noGrp="1"/>
          </p:cNvSpPr>
          <p:nvPr/>
        </p:nvSpPr>
        <p:spPr>
          <a:xfrm>
            <a:off x="6972300" y="4400550"/>
            <a:ext cx="2571750" cy="102870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0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105BE5C-433E-4031-A75F-BBB69EC4210B}"/>
              </a:ext>
            </a:extLst>
          </p:cNvPr>
          <p:cNvSpPr>
            <a:spLocks noGrp="1"/>
          </p:cNvSpPr>
          <p:nvPr/>
        </p:nvSpPr>
        <p:spPr>
          <a:xfrm>
            <a:off x="7143750" y="4533900"/>
            <a:ext cx="2228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buNone/>
              <a:defRPr sz="1500" b="1">
                <a:solidFill>
                  <a:srgbClr val="17308E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7308E"/>
                </a:solidFill>
                <a:latin typeface="Menlo"/>
                <a:ea typeface="Menlo"/>
                <a:cs typeface="Menlo"/>
              </a:rPr>
              <a:t>build_control_</a:t>
            </a:r>
          </a:p>
          <a:p>
            <a:pPr algn="ctr">
              <a:lnSpc>
                <a:spcPct val="96000"/>
              </a:lnSpc>
              <a:buNone/>
              <a:defRPr sz="1500" b="1">
                <a:solidFill>
                  <a:srgbClr val="17308E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7308E"/>
                </a:solidFill>
                <a:latin typeface="Menlo"/>
                <a:ea typeface="Menlo"/>
                <a:cs typeface="Menlo"/>
              </a:rPr>
              <a:t>command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14678BA-36F0-41BD-836E-CED506AD786C}"/>
              </a:ext>
            </a:extLst>
          </p:cNvPr>
          <p:cNvSpPr>
            <a:spLocks noGrp="1"/>
          </p:cNvSpPr>
          <p:nvPr/>
        </p:nvSpPr>
        <p:spPr>
          <a:xfrm>
            <a:off x="7143750" y="5105400"/>
            <a:ext cx="2228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42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2단계 호출자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7DC1106-DD5A-423B-AB6A-9752D9C77D97}"/>
              </a:ext>
            </a:extLst>
          </p:cNvPr>
          <p:cNvSpPr>
            <a:spLocks noGrp="1"/>
          </p:cNvSpPr>
          <p:nvPr/>
        </p:nvSpPr>
        <p:spPr>
          <a:xfrm>
            <a:off x="9848850" y="4400550"/>
            <a:ext cx="1657350" cy="1028700"/>
          </a:xfrm>
          <a:prstGeom prst="rect">
            <a:avLst/>
          </a:prstGeom>
          <a:solidFill>
            <a:srgbClr val="DFF4EE"/>
          </a:solidFill>
          <a:ln w="19050">
            <a:solidFill>
              <a:srgbClr val="138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446D7A2-CBD4-47C7-81B3-4893FD243DBF}"/>
              </a:ext>
            </a:extLst>
          </p:cNvPr>
          <p:cNvSpPr>
            <a:spLocks noGrp="1"/>
          </p:cNvSpPr>
          <p:nvPr/>
        </p:nvSpPr>
        <p:spPr>
          <a:xfrm>
            <a:off x="10001250" y="4629150"/>
            <a:ext cx="1352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138A72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138A72"/>
                </a:solidFill>
                <a:latin typeface="Menlo"/>
                <a:ea typeface="Menlo"/>
                <a:cs typeface="Menlo"/>
              </a:rPr>
              <a:t>3 tests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71E6C50-6841-4319-9AFB-601ADA9F85B9}"/>
              </a:ext>
            </a:extLst>
          </p:cNvPr>
          <p:cNvSpPr>
            <a:spLocks noGrp="1"/>
          </p:cNvSpPr>
          <p:nvPr/>
        </p:nvSpPr>
        <p:spPr>
          <a:xfrm>
            <a:off x="10001250" y="5048250"/>
            <a:ext cx="1352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425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재실행 권장</a:t>
            </a:r>
          </a:p>
        </p:txBody>
      </p:sp>
    </p:spTree>
    <p:extLst>
      <p:ext uri="{BB962C8B-B14F-4D97-AF65-F5344CB8AC3E}">
        <p14:creationId xmlns:p14="http://schemas.microsoft.com/office/powerpoint/2010/main" val="166068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31956544-25C1-4F5C-8D46-8A2FFEAE5B5E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B57965B-8D32-498B-AAE9-10691328969F}"/>
              </a:ext>
            </a:extLst>
          </p:cNvPr>
          <p:cNvSpPr>
            <a:spLocks noGrp="1"/>
          </p:cNvSpPr>
          <p:nvPr/>
        </p:nvSpPr>
        <p:spPr>
          <a:xfrm>
            <a:off x="1276350" y="4572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EVIDENCE</a:t>
            </a:r>
          </a:p>
        </p:txBody>
      </p:sp>
      <p:sp>
        <p:nvSpPr>
          <p:cNvPr id="3" name="slide-7-title">
            <a:extLst>
              <a:ext uri="{FF2B5EF4-FFF2-40B4-BE49-F238E27FC236}">
                <a16:creationId xmlns:a16="http://schemas.microsoft.com/office/drawing/2014/main" id="{629AA6A5-36D0-42F0-9D1E-DA44E79615F1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  <a:defRPr sz="36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결론과 함께 확인 가능한 파일·라인을 남긴다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D860BC5-2A73-4B6F-871D-01E59092BB1F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26873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626873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864D6C2-508A-4C8E-AFBC-FAD82C292150}"/>
              </a:ext>
            </a:extLst>
          </p:cNvPr>
          <p:cNvSpPr>
            <a:spLocks noGrp="1"/>
          </p:cNvSpPr>
          <p:nvPr/>
        </p:nvSpPr>
        <p:spPr>
          <a:xfrm>
            <a:off x="1181100" y="641985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EVIDENCE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61E0FDD-EE46-421F-ABE4-86C5AB5A70D4}"/>
              </a:ext>
            </a:extLst>
          </p:cNvPr>
          <p:cNvSpPr>
            <a:spLocks noGrp="1"/>
          </p:cNvSpPr>
          <p:nvPr/>
        </p:nvSpPr>
        <p:spPr>
          <a:xfrm>
            <a:off x="9791700" y="6419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CODE IMPACT AGENT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7CB36B16-32C2-4AC1-B790-3F2EAC7D0CA4}"/>
              </a:ext>
            </a:extLst>
          </p:cNvPr>
          <p:cNvSpPr>
            <a:spLocks noGrp="1"/>
          </p:cNvSpPr>
          <p:nvPr/>
        </p:nvSpPr>
        <p:spPr>
          <a:xfrm>
            <a:off x="685800" y="6267450"/>
            <a:ext cx="10820400" cy="0"/>
          </a:xfrm>
          <a:prstGeom prst="line">
            <a:avLst/>
          </a:prstGeom>
          <a:noFill/>
          <a:ln w="9525">
            <a:solidFill>
              <a:srgbClr val="D8D9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5A883CE-5065-4ABE-A9E6-A385AD8963CB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5810250" cy="3733800"/>
          </a:xfrm>
          <a:prstGeom prst="rect">
            <a:avLst/>
          </a:prstGeom>
          <a:solidFill>
            <a:srgbClr val="16192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FCC0DEB-FAEF-48FC-982C-98E3D85A10CA}"/>
              </a:ext>
            </a:extLst>
          </p:cNvPr>
          <p:cNvSpPr>
            <a:spLocks noGrp="1"/>
          </p:cNvSpPr>
          <p:nvPr/>
        </p:nvSpPr>
        <p:spPr>
          <a:xfrm>
            <a:off x="933450" y="2171700"/>
            <a:ext cx="523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# Code Impact Report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160811C-D32C-4898-A3B1-B314F7435718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8BA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8BA4FF"/>
                </a:solidFill>
                <a:latin typeface="Apple SD Gothic Neo"/>
                <a:ea typeface="Apple SD Gothic Neo"/>
                <a:cs typeface="Apple SD Gothic Neo"/>
              </a:rPr>
              <a:t>변경 함수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923ADBC-5CA9-46A1-98DE-14E688831F71}"/>
              </a:ext>
            </a:extLst>
          </p:cNvPr>
          <p:cNvSpPr>
            <a:spLocks noGrp="1"/>
          </p:cNvSpPr>
          <p:nvPr/>
        </p:nvSpPr>
        <p:spPr>
          <a:xfrm>
            <a:off x="933450" y="3086100"/>
            <a:ext cx="523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minimum_safe_distance  ·  safety_check.py:4–7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245EC7C-B3CC-422A-A6F4-58992AD71C9C}"/>
              </a:ext>
            </a:extLst>
          </p:cNvPr>
          <p:cNvSpPr>
            <a:spLocks noGrp="1"/>
          </p:cNvSpPr>
          <p:nvPr/>
        </p:nvSpPr>
        <p:spPr>
          <a:xfrm>
            <a:off x="933450" y="3581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8BA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8BA4FF"/>
                </a:solidFill>
                <a:latin typeface="Apple SD Gothic Neo"/>
                <a:ea typeface="Apple SD Gothic Neo"/>
                <a:cs typeface="Apple SD Gothic Neo"/>
              </a:rPr>
              <a:t>영향 가능 함수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A39F171-5598-449E-B4D0-C254217C009A}"/>
              </a:ext>
            </a:extLst>
          </p:cNvPr>
          <p:cNvSpPr>
            <a:spLocks noGrp="1"/>
          </p:cNvSpPr>
          <p:nvPr/>
        </p:nvSpPr>
        <p:spPr>
          <a:xfrm>
            <a:off x="933450" y="3924300"/>
            <a:ext cx="5238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buNone/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is_path_safe             ·  1단계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build_control_command     ·  2단계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6077FFC-8FEB-4708-98C5-BF3C26A012BE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523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7BE0C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7BE0C2"/>
                </a:solidFill>
                <a:latin typeface="Apple SD Gothic Neo"/>
                <a:ea typeface="Apple SD Gothic Neo"/>
                <a:cs typeface="Apple SD Gothic Neo"/>
              </a:rPr>
              <a:t>권장 테스트 3개 · 검증 근거 6개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84834AA-4A1B-4BCB-A8D8-E059CFD6DF78}"/>
              </a:ext>
            </a:extLst>
          </p:cNvPr>
          <p:cNvSpPr>
            <a:spLocks noGrp="1"/>
          </p:cNvSpPr>
          <p:nvPr/>
        </p:nvSpPr>
        <p:spPr>
          <a:xfrm>
            <a:off x="6991350" y="2000250"/>
            <a:ext cx="451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3157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3157D5"/>
                </a:solidFill>
                <a:latin typeface="Apple SD Gothic Neo"/>
                <a:ea typeface="Apple SD Gothic Neo"/>
                <a:cs typeface="Apple SD Gothic Neo"/>
              </a:rPr>
              <a:t>근거 ID는 결과를 다시 확인할 경로다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7C46AF0-A7D9-41CB-A925-1BD21964F0DF}"/>
              </a:ext>
            </a:extLst>
          </p:cNvPr>
          <p:cNvSpPr>
            <a:spLocks noGrp="1"/>
          </p:cNvSpPr>
          <p:nvPr/>
        </p:nvSpPr>
        <p:spPr>
          <a:xfrm>
            <a:off x="6991350" y="26479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CHG-001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A6E6147-D8AF-47A6-B891-CA4BF35E4BF3}"/>
              </a:ext>
            </a:extLst>
          </p:cNvPr>
          <p:cNvSpPr>
            <a:spLocks noGrp="1"/>
          </p:cNvSpPr>
          <p:nvPr/>
        </p:nvSpPr>
        <p:spPr>
          <a:xfrm>
            <a:off x="8286750" y="2647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11318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11318"/>
                </a:solidFill>
                <a:latin typeface="Menlo"/>
                <a:ea typeface="Menlo"/>
                <a:cs typeface="Menlo"/>
              </a:rPr>
              <a:t>safety_check.py:6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1415352-84DF-4595-A842-C3A7DF2A6208}"/>
              </a:ext>
            </a:extLst>
          </p:cNvPr>
          <p:cNvSpPr>
            <a:spLocks noGrp="1"/>
          </p:cNvSpPr>
          <p:nvPr/>
        </p:nvSpPr>
        <p:spPr>
          <a:xfrm>
            <a:off x="6991350" y="300990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Git 변경 라인이 함수 범위 안에 존재</a:t>
            </a:r>
          </a:p>
        </p:txBody>
      </p:sp>
      <p:sp>
        <p:nvSpPr>
          <p:cNvPr id="19" name="직선 연결선[R] 18">
            <a:extLst>
              <a:ext uri="{FF2B5EF4-FFF2-40B4-BE49-F238E27FC236}">
                <a16:creationId xmlns:a16="http://schemas.microsoft.com/office/drawing/2014/main" id="{7295D64C-AD15-4B51-93EB-C1741102C560}"/>
              </a:ext>
            </a:extLst>
          </p:cNvPr>
          <p:cNvSpPr>
            <a:spLocks noGrp="1"/>
          </p:cNvSpPr>
          <p:nvPr/>
        </p:nvSpPr>
        <p:spPr>
          <a:xfrm>
            <a:off x="6991350" y="3486150"/>
            <a:ext cx="4514850" cy="0"/>
          </a:xfrm>
          <a:prstGeom prst="line">
            <a:avLst/>
          </a:prstGeom>
          <a:noFill/>
          <a:ln w="9525">
            <a:solidFill>
              <a:srgbClr val="D8D9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51C218B-97D8-452D-9EB4-A8A6F748DDEB}"/>
              </a:ext>
            </a:extLst>
          </p:cNvPr>
          <p:cNvSpPr>
            <a:spLocks noGrp="1"/>
          </p:cNvSpPr>
          <p:nvPr/>
        </p:nvSpPr>
        <p:spPr>
          <a:xfrm>
            <a:off x="6991350" y="36195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CALL-002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7B386A9-FF10-480C-BDDE-DD13392F381C}"/>
              </a:ext>
            </a:extLst>
          </p:cNvPr>
          <p:cNvSpPr>
            <a:spLocks noGrp="1"/>
          </p:cNvSpPr>
          <p:nvPr/>
        </p:nvSpPr>
        <p:spPr>
          <a:xfrm>
            <a:off x="8286750" y="36195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11318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11318"/>
                </a:solidFill>
                <a:latin typeface="Menlo"/>
                <a:ea typeface="Menlo"/>
                <a:cs typeface="Menlo"/>
              </a:rPr>
              <a:t>controller.py:16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A4783C3-D4E9-40B6-B2E3-32FA91F10348}"/>
              </a:ext>
            </a:extLst>
          </p:cNvPr>
          <p:cNvSpPr>
            <a:spLocks noGrp="1"/>
          </p:cNvSpPr>
          <p:nvPr/>
        </p:nvSpPr>
        <p:spPr>
          <a:xfrm>
            <a:off x="6991350" y="39814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build_control_command → is_path_safe</a:t>
            </a:r>
          </a:p>
        </p:txBody>
      </p:sp>
      <p:sp>
        <p:nvSpPr>
          <p:cNvPr id="23" name="직선 연결선[R] 22">
            <a:extLst>
              <a:ext uri="{FF2B5EF4-FFF2-40B4-BE49-F238E27FC236}">
                <a16:creationId xmlns:a16="http://schemas.microsoft.com/office/drawing/2014/main" id="{E642129F-DA65-4DC5-85AF-A84ADE2CDBD1}"/>
              </a:ext>
            </a:extLst>
          </p:cNvPr>
          <p:cNvSpPr>
            <a:spLocks noGrp="1"/>
          </p:cNvSpPr>
          <p:nvPr/>
        </p:nvSpPr>
        <p:spPr>
          <a:xfrm>
            <a:off x="6991350" y="4457700"/>
            <a:ext cx="4514850" cy="0"/>
          </a:xfrm>
          <a:prstGeom prst="line">
            <a:avLst/>
          </a:prstGeom>
          <a:noFill/>
          <a:ln w="9525">
            <a:solidFill>
              <a:srgbClr val="D8D9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DF1017F-55C9-40ED-BEEC-297A2CD04F99}"/>
              </a:ext>
            </a:extLst>
          </p:cNvPr>
          <p:cNvSpPr>
            <a:spLocks noGrp="1"/>
          </p:cNvSpPr>
          <p:nvPr/>
        </p:nvSpPr>
        <p:spPr>
          <a:xfrm>
            <a:off x="6991350" y="45910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8A72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138A72"/>
                </a:solidFill>
                <a:latin typeface="Menlo"/>
                <a:ea typeface="Menlo"/>
                <a:cs typeface="Menlo"/>
              </a:rPr>
              <a:t>TEST-003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8EF3B6A-B636-4381-BB2F-233461E29138}"/>
              </a:ext>
            </a:extLst>
          </p:cNvPr>
          <p:cNvSpPr>
            <a:spLocks noGrp="1"/>
          </p:cNvSpPr>
          <p:nvPr/>
        </p:nvSpPr>
        <p:spPr>
          <a:xfrm>
            <a:off x="8286750" y="45910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11318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11318"/>
                </a:solidFill>
                <a:latin typeface="Menlo"/>
                <a:ea typeface="Menlo"/>
                <a:cs typeface="Menlo"/>
              </a:rPr>
              <a:t>test_safety.py:9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1F40997-67C9-4C3F-A0FE-4E147E6A8E49}"/>
              </a:ext>
            </a:extLst>
          </p:cNvPr>
          <p:cNvSpPr>
            <a:spLocks noGrp="1"/>
          </p:cNvSpPr>
          <p:nvPr/>
        </p:nvSpPr>
        <p:spPr>
          <a:xfrm>
            <a:off x="6991350" y="495300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테스트가 is_path_safe를 직접 호출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66065F9-AC3F-4DE3-8108-C25B290FDAD3}"/>
              </a:ext>
            </a:extLst>
          </p:cNvPr>
          <p:cNvSpPr>
            <a:spLocks noGrp="1"/>
          </p:cNvSpPr>
          <p:nvPr/>
        </p:nvSpPr>
        <p:spPr>
          <a:xfrm>
            <a:off x="6991350" y="5314950"/>
            <a:ext cx="4514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D9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D95D4F"/>
                </a:solidFill>
                <a:latin typeface="Apple SD Gothic Neo"/>
                <a:ea typeface="Apple SD Gothic Neo"/>
                <a:cs typeface="Apple SD Gothic Neo"/>
              </a:rPr>
              <a:t>미발급 ID 인용은 거부하고, 근거 검증 실패 시 보고서를 중단한다.</a:t>
            </a:r>
          </a:p>
        </p:txBody>
      </p:sp>
    </p:spTree>
    <p:extLst>
      <p:ext uri="{BB962C8B-B14F-4D97-AF65-F5344CB8AC3E}">
        <p14:creationId xmlns:p14="http://schemas.microsoft.com/office/powerpoint/2010/main" val="593916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3867581E-8136-4429-A2DA-62945A8749C0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8C10E17-AA07-4B26-AE93-FFF498D2E2E4}"/>
              </a:ext>
            </a:extLst>
          </p:cNvPr>
          <p:cNvSpPr>
            <a:spLocks noGrp="1"/>
          </p:cNvSpPr>
          <p:nvPr/>
        </p:nvSpPr>
        <p:spPr>
          <a:xfrm>
            <a:off x="1276350" y="4572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GUARDRAIL</a:t>
            </a:r>
          </a:p>
        </p:txBody>
      </p:sp>
      <p:sp>
        <p:nvSpPr>
          <p:cNvPr id="3" name="slide-8-title">
            <a:extLst>
              <a:ext uri="{FF2B5EF4-FFF2-40B4-BE49-F238E27FC236}">
                <a16:creationId xmlns:a16="http://schemas.microsoft.com/office/drawing/2014/main" id="{542D3A6D-1E45-4DDC-81E4-3E42B1FAEC7B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  <a:defRPr sz="36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근거가 없으면 추측하지 않는다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D321E7-1319-4D5F-A28A-28EAF980AB5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26873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626873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B8AAC1-69D1-426A-8A00-CCBF89FF86BD}"/>
              </a:ext>
            </a:extLst>
          </p:cNvPr>
          <p:cNvSpPr>
            <a:spLocks noGrp="1"/>
          </p:cNvSpPr>
          <p:nvPr/>
        </p:nvSpPr>
        <p:spPr>
          <a:xfrm>
            <a:off x="1181100" y="641985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GUARDRAIL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AFA19E-1215-4355-A5DC-A714A4256C96}"/>
              </a:ext>
            </a:extLst>
          </p:cNvPr>
          <p:cNvSpPr>
            <a:spLocks noGrp="1"/>
          </p:cNvSpPr>
          <p:nvPr/>
        </p:nvSpPr>
        <p:spPr>
          <a:xfrm>
            <a:off x="9791700" y="6419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CODE IMPACT AGENT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3E627376-3548-4C39-A3B3-2E673CA162FD}"/>
              </a:ext>
            </a:extLst>
          </p:cNvPr>
          <p:cNvSpPr>
            <a:spLocks noGrp="1"/>
          </p:cNvSpPr>
          <p:nvPr/>
        </p:nvSpPr>
        <p:spPr>
          <a:xfrm>
            <a:off x="685800" y="6267450"/>
            <a:ext cx="10820400" cy="0"/>
          </a:xfrm>
          <a:prstGeom prst="line">
            <a:avLst/>
          </a:prstGeom>
          <a:noFill/>
          <a:ln w="9525">
            <a:solidFill>
              <a:srgbClr val="D8D9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9EA1FB0-9342-4735-9B5F-A41A7C02199D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4381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D95D4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D95D4F"/>
                </a:solidFill>
                <a:latin typeface="Menlo"/>
                <a:ea typeface="Menlo"/>
                <a:cs typeface="Menlo"/>
              </a:rPr>
              <a:t>demo-docs-only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2EF6443-38F8-486F-8017-AA0DB4FF10DE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2476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600" b="1">
                <a:solidFill>
                  <a:srgbClr val="D95D4F"/>
                </a:solidFill>
                <a:latin typeface="Menlo"/>
                <a:ea typeface="Menlo"/>
                <a:cs typeface="Menlo"/>
              </a:defRPr>
            </a:pPr>
            <a:r>
              <a:rPr sz="9600" b="1">
                <a:solidFill>
                  <a:srgbClr val="D95D4F"/>
                </a:solidFill>
                <a:latin typeface="Menlo"/>
                <a:ea typeface="Menlo"/>
                <a:cs typeface="Menlo"/>
              </a:rPr>
              <a:t>0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878C04D-71B9-4EF9-9127-2544797704B4}"/>
              </a:ext>
            </a:extLst>
          </p:cNvPr>
          <p:cNvSpPr>
            <a:spLocks noGrp="1"/>
          </p:cNvSpPr>
          <p:nvPr/>
        </p:nvSpPr>
        <p:spPr>
          <a:xfrm>
            <a:off x="2724150" y="32956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1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Python 함수 변경</a:t>
            </a:r>
          </a:p>
        </p:txBody>
      </p:sp>
      <p:sp>
        <p:nvSpPr>
          <p:cNvPr id="11" name="직선 연결선[R] 10">
            <a:extLst>
              <a:ext uri="{FF2B5EF4-FFF2-40B4-BE49-F238E27FC236}">
                <a16:creationId xmlns:a16="http://schemas.microsoft.com/office/drawing/2014/main" id="{A138CAEB-906F-417C-9FA0-330DC207AA05}"/>
              </a:ext>
            </a:extLst>
          </p:cNvPr>
          <p:cNvSpPr>
            <a:spLocks noGrp="1"/>
          </p:cNvSpPr>
          <p:nvPr/>
        </p:nvSpPr>
        <p:spPr>
          <a:xfrm>
            <a:off x="5810250" y="1962150"/>
            <a:ext cx="0" cy="3314700"/>
          </a:xfrm>
          <a:prstGeom prst="line">
            <a:avLst/>
          </a:prstGeom>
          <a:noFill/>
          <a:ln w="19050">
            <a:solidFill>
              <a:srgbClr val="D8D9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F204224-9F49-4ABE-81B0-24CFB67921B2}"/>
              </a:ext>
            </a:extLst>
          </p:cNvPr>
          <p:cNvSpPr>
            <a:spLocks noGrp="1"/>
          </p:cNvSpPr>
          <p:nvPr/>
        </p:nvSpPr>
        <p:spPr>
          <a:xfrm>
            <a:off x="6457950" y="20764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분석 결과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5BD90C1-ADF4-48AE-BEA3-89732E2D6C3B}"/>
              </a:ext>
            </a:extLst>
          </p:cNvPr>
          <p:cNvSpPr>
            <a:spLocks noGrp="1"/>
          </p:cNvSpPr>
          <p:nvPr/>
        </p:nvSpPr>
        <p:spPr>
          <a:xfrm>
            <a:off x="6457950" y="268605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4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영향 함수 조회 중단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39AF201-864D-4091-98E5-622B7F8F10FB}"/>
              </a:ext>
            </a:extLst>
          </p:cNvPr>
          <p:cNvSpPr>
            <a:spLocks noGrp="1"/>
          </p:cNvSpPr>
          <p:nvPr/>
        </p:nvSpPr>
        <p:spPr>
          <a:xfrm>
            <a:off x="6457950" y="33147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4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테스트 추천 중단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DDE9BE7-5BC0-4DD8-BADE-A7276381B432}"/>
              </a:ext>
            </a:extLst>
          </p:cNvPr>
          <p:cNvSpPr>
            <a:spLocks noGrp="1"/>
          </p:cNvSpPr>
          <p:nvPr/>
        </p:nvSpPr>
        <p:spPr>
          <a:xfrm>
            <a:off x="6457950" y="4114800"/>
            <a:ext cx="47625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D9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D95D4F"/>
                </a:solidFill>
                <a:latin typeface="Apple SD Gothic Neo"/>
                <a:ea typeface="Apple SD Gothic Neo"/>
                <a:cs typeface="Apple SD Gothic Neo"/>
              </a:rPr>
              <a:t>“Python 함수 범위에 해당하는 변경을 찾지 못했습니다.</a:t>
            </a:r>
          </a:p>
          <a:p>
            <a:pPr algn="l">
              <a:lnSpc>
                <a:spcPct val="118000"/>
              </a:lnSpc>
              <a:buNone/>
              <a:defRPr sz="1725" b="1">
                <a:solidFill>
                  <a:srgbClr val="D9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D95D4F"/>
                </a:solidFill>
                <a:latin typeface="Apple SD Gothic Neo"/>
                <a:ea typeface="Apple SD Gothic Neo"/>
                <a:cs typeface="Apple SD Gothic Neo"/>
              </a:rPr>
              <a:t>근거가 없으므로 영향 함수와 테스트를 추측하지 않습니다.”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AF3D4BF-D72E-484F-ABA5-DA433DB7CE6A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10820400" cy="400050"/>
          </a:xfrm>
          <a:prstGeom prst="rect">
            <a:avLst/>
          </a:prstGeom>
          <a:solidFill>
            <a:srgbClr val="F9E5E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A472E1F-8CD7-45FF-B52D-B1A00A81C3C9}"/>
              </a:ext>
            </a:extLst>
          </p:cNvPr>
          <p:cNvSpPr>
            <a:spLocks noGrp="1"/>
          </p:cNvSpPr>
          <p:nvPr/>
        </p:nvSpPr>
        <p:spPr>
          <a:xfrm>
            <a:off x="876300" y="5629275"/>
            <a:ext cx="10439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D9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D95D4F"/>
                </a:solidFill>
                <a:latin typeface="Apple SD Gothic Neo"/>
                <a:ea typeface="Apple SD Gothic Neo"/>
                <a:cs typeface="Apple SD Gothic Neo"/>
              </a:rPr>
              <a:t>성공 케이스만큼 중요한 검증: ‘모른다’를 정확히 말하는 동작</a:t>
            </a:r>
          </a:p>
        </p:txBody>
      </p:sp>
    </p:spTree>
    <p:extLst>
      <p:ext uri="{BB962C8B-B14F-4D97-AF65-F5344CB8AC3E}">
        <p14:creationId xmlns:p14="http://schemas.microsoft.com/office/powerpoint/2010/main" val="1161990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D094EBF9-D8D2-473E-8DCD-2A8CE594316C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56B1254-A7D8-44D4-819C-1547ED01E048}"/>
              </a:ext>
            </a:extLst>
          </p:cNvPr>
          <p:cNvSpPr>
            <a:spLocks noGrp="1"/>
          </p:cNvSpPr>
          <p:nvPr/>
        </p:nvSpPr>
        <p:spPr>
          <a:xfrm>
            <a:off x="1276350" y="4572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VALIDATION</a:t>
            </a:r>
          </a:p>
        </p:txBody>
      </p:sp>
      <p:sp>
        <p:nvSpPr>
          <p:cNvPr id="3" name="slide-9-title">
            <a:extLst>
              <a:ext uri="{FF2B5EF4-FFF2-40B4-BE49-F238E27FC236}">
                <a16:creationId xmlns:a16="http://schemas.microsoft.com/office/drawing/2014/main" id="{766442AF-D0F4-42DA-A727-7FFA4F9D8626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  <a:defRPr sz="36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현재 구현은 분석 코어의 재현성에 집중한다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ADE585-E2DA-4887-A885-FA2278BAE34F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26873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626873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16C1A0-12CC-4F70-996B-24F0415AAFE6}"/>
              </a:ext>
            </a:extLst>
          </p:cNvPr>
          <p:cNvSpPr>
            <a:spLocks noGrp="1"/>
          </p:cNvSpPr>
          <p:nvPr/>
        </p:nvSpPr>
        <p:spPr>
          <a:xfrm>
            <a:off x="1181100" y="641985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VALIDATION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5DB4413-074E-4FFA-9AE8-31813A0D98F7}"/>
              </a:ext>
            </a:extLst>
          </p:cNvPr>
          <p:cNvSpPr>
            <a:spLocks noGrp="1"/>
          </p:cNvSpPr>
          <p:nvPr/>
        </p:nvSpPr>
        <p:spPr>
          <a:xfrm>
            <a:off x="9791700" y="6419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CODE IMPACT AGENT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38F2F701-81E6-4594-B81B-0A84366D4A9B}"/>
              </a:ext>
            </a:extLst>
          </p:cNvPr>
          <p:cNvSpPr>
            <a:spLocks noGrp="1"/>
          </p:cNvSpPr>
          <p:nvPr/>
        </p:nvSpPr>
        <p:spPr>
          <a:xfrm>
            <a:off x="685800" y="6267450"/>
            <a:ext cx="10820400" cy="0"/>
          </a:xfrm>
          <a:prstGeom prst="line">
            <a:avLst/>
          </a:prstGeom>
          <a:noFill/>
          <a:ln w="9525">
            <a:solidFill>
              <a:srgbClr val="D8D9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F80E910-0968-4A68-8D54-8F3916FFB0C9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38A72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38A72"/>
                </a:solidFill>
                <a:latin typeface="Menlo"/>
                <a:ea typeface="Menlo"/>
                <a:cs typeface="Menlo"/>
              </a:rPr>
              <a:t>CURRENT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A27EC5A-2141-404C-91DD-9CD843033E6A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3238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4350" b="1">
                <a:solidFill>
                  <a:srgbClr val="138A72"/>
                </a:solidFill>
                <a:latin typeface="Menlo"/>
                <a:ea typeface="Menlo"/>
                <a:cs typeface="Menlo"/>
              </a:defRPr>
            </a:pPr>
            <a:r>
              <a:rPr sz="4350" b="1">
                <a:solidFill>
                  <a:srgbClr val="138A72"/>
                </a:solidFill>
                <a:latin typeface="Menlo"/>
                <a:ea typeface="Menlo"/>
                <a:cs typeface="Menlo"/>
              </a:rPr>
              <a:t>5 passed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78AE8E-14F9-4DF3-9D7E-F0DF5106FFC6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725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FakeGemini · 구조화 응답 adapter · 분석 코어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47B86C1-EC7B-4E05-ACDC-1879C29E82EE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3157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157D5"/>
                </a:solidFill>
                <a:latin typeface="Apple SD Gothic Neo"/>
                <a:ea typeface="Apple SD Gothic Neo"/>
                <a:cs typeface="Apple SD Gothic Neo"/>
              </a:rPr>
              <a:t>데모 재현 결과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6039E80-5B95-403C-B44F-326F349FC944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4667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24" indent="-18" algn="l">
              <a:lnSpc>
                <a:spcPct val="115000"/>
              </a:lnSpc>
              <a:spcAft>
                <a:spcPts val="10"/>
              </a:spcAft>
              <a:buNone/>
              <a:defRPr sz="1575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최대 2단계 호출자 탐색</a:t>
            </a:r>
          </a:p>
          <a:p>
            <a:pPr marL="24" indent="-18" algn="l">
              <a:lnSpc>
                <a:spcPct val="115000"/>
              </a:lnSpc>
              <a:spcAft>
                <a:spcPts val="10"/>
              </a:spcAft>
              <a:buNone/>
              <a:defRPr sz="1575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관련 테스트 3개 식별</a:t>
            </a:r>
          </a:p>
          <a:p>
            <a:pPr marL="24" indent="-18" algn="l">
              <a:lnSpc>
                <a:spcPct val="115000"/>
              </a:lnSpc>
              <a:spcAft>
                <a:spcPts val="10"/>
              </a:spcAft>
              <a:buNone/>
              <a:defRPr sz="1575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파일·라인 근거 6/6 검증</a:t>
            </a:r>
          </a:p>
          <a:p>
            <a:pPr marL="24" indent="-18" algn="l">
              <a:lnSpc>
                <a:spcPct val="115000"/>
              </a:lnSpc>
              <a:spcAft>
                <a:spcPts val="10"/>
              </a:spcAft>
              <a:buNone/>
              <a:defRPr sz="1575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문서 변경에서 중단 · 미발급 ID 요약 거부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C7BA876-5470-4B85-B5D2-8C8CBCF1A88F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실제 Gemini API 호출은 GEMINI_API_KEY 환경에서 별도 검증이 필요하다.</a:t>
            </a:r>
          </a:p>
        </p:txBody>
      </p:sp>
      <p:sp>
        <p:nvSpPr>
          <p:cNvPr id="14" name="직선 연결선[R] 13">
            <a:extLst>
              <a:ext uri="{FF2B5EF4-FFF2-40B4-BE49-F238E27FC236}">
                <a16:creationId xmlns:a16="http://schemas.microsoft.com/office/drawing/2014/main" id="{2E50621A-0153-477A-8BC9-4A43F534DB50}"/>
              </a:ext>
            </a:extLst>
          </p:cNvPr>
          <p:cNvSpPr>
            <a:spLocks noGrp="1"/>
          </p:cNvSpPr>
          <p:nvPr/>
        </p:nvSpPr>
        <p:spPr>
          <a:xfrm>
            <a:off x="5905500" y="1905000"/>
            <a:ext cx="0" cy="3943350"/>
          </a:xfrm>
          <a:prstGeom prst="line">
            <a:avLst/>
          </a:prstGeom>
          <a:noFill/>
          <a:ln w="19050">
            <a:solidFill>
              <a:srgbClr val="D8D9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43FA920-D37C-4431-8DD6-5581BE7DE0D7}"/>
              </a:ext>
            </a:extLst>
          </p:cNvPr>
          <p:cNvSpPr>
            <a:spLocks noGrp="1"/>
          </p:cNvSpPr>
          <p:nvPr/>
        </p:nvSpPr>
        <p:spPr>
          <a:xfrm>
            <a:off x="6515100" y="19240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D95D4F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D95D4F"/>
                </a:solidFill>
                <a:latin typeface="Menlo"/>
                <a:ea typeface="Menlo"/>
                <a:cs typeface="Menlo"/>
              </a:rPr>
              <a:t>MVP BOUNDARY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9B534E2-A434-46EA-97F6-80110243C17A}"/>
              </a:ext>
            </a:extLst>
          </p:cNvPr>
          <p:cNvSpPr>
            <a:spLocks noGrp="1"/>
          </p:cNvSpPr>
          <p:nvPr/>
        </p:nvSpPr>
        <p:spPr>
          <a:xfrm>
            <a:off x="6515100" y="23241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지원 범위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776A86A-DE0D-4C7D-B34C-E49CCBDD8CC5}"/>
              </a:ext>
            </a:extLst>
          </p:cNvPr>
          <p:cNvSpPr>
            <a:spLocks noGrp="1"/>
          </p:cNvSpPr>
          <p:nvPr/>
        </p:nvSpPr>
        <p:spPr>
          <a:xfrm>
            <a:off x="6515100" y="2781300"/>
            <a:ext cx="4762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24" indent="-18" algn="l">
              <a:lnSpc>
                <a:spcPct val="115000"/>
              </a:lnSpc>
              <a:spcAft>
                <a:spcPts val="10"/>
              </a:spcAft>
              <a:buNone/>
              <a:defRPr sz="1575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소규모 Python 저장소 1개</a:t>
            </a:r>
          </a:p>
          <a:p>
            <a:pPr marL="24" indent="-18" algn="l">
              <a:lnSpc>
                <a:spcPct val="115000"/>
              </a:lnSpc>
              <a:spcAft>
                <a:spcPts val="10"/>
              </a:spcAft>
              <a:buNone/>
              <a:defRPr sz="1575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최상위 함수의 정적 호출 관계</a:t>
            </a:r>
          </a:p>
          <a:p>
            <a:pPr marL="24" indent="-18" algn="l">
              <a:lnSpc>
                <a:spcPct val="115000"/>
              </a:lnSpc>
              <a:spcAft>
                <a:spcPts val="10"/>
              </a:spcAft>
              <a:buNone/>
              <a:defRPr sz="1575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커밋 기반 분석 · 최대 2단계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E175D56-9E07-484D-AB4B-FFBF335C7EFB}"/>
              </a:ext>
            </a:extLst>
          </p:cNvPr>
          <p:cNvSpPr>
            <a:spLocks noGrp="1"/>
          </p:cNvSpPr>
          <p:nvPr/>
        </p:nvSpPr>
        <p:spPr>
          <a:xfrm>
            <a:off x="6515100" y="42672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D9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D95D4F"/>
                </a:solidFill>
                <a:latin typeface="Apple SD Gothic Neo"/>
                <a:ea typeface="Apple SD Gothic Neo"/>
                <a:cs typeface="Apple SD Gothic Neo"/>
              </a:rPr>
              <a:t>의도적으로 제외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345DB68-10B5-4B70-9010-434668507F39}"/>
              </a:ext>
            </a:extLst>
          </p:cNvPr>
          <p:cNvSpPr>
            <a:spLocks noGrp="1"/>
          </p:cNvSpPr>
          <p:nvPr/>
        </p:nvSpPr>
        <p:spPr>
          <a:xfrm>
            <a:off x="6515100" y="4705350"/>
            <a:ext cx="476250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24" indent="-18" algn="l">
              <a:lnSpc>
                <a:spcPct val="115000"/>
              </a:lnSpc>
              <a:spcAft>
                <a:spcPts val="7"/>
              </a:spcAft>
              <a:buNone/>
              <a:def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동적 호출의 완전한 분석</a:t>
            </a:r>
          </a:p>
          <a:p>
            <a:pPr marL="24" indent="-18" algn="l">
              <a:lnSpc>
                <a:spcPct val="115000"/>
              </a:lnSpc>
              <a:spcAft>
                <a:spcPts val="7"/>
              </a:spcAft>
              <a:buNone/>
              <a:def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실제 오류 발생 여부 예측</a:t>
            </a:r>
          </a:p>
          <a:p>
            <a:pPr marL="24" indent="-18" algn="l">
              <a:lnSpc>
                <a:spcPct val="115000"/>
              </a:lnSpc>
              <a:spcAft>
                <a:spcPts val="7"/>
              </a:spcAft>
              <a:buNone/>
              <a:def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자동 코드 수정 · PR 생성</a:t>
            </a:r>
          </a:p>
          <a:p>
            <a:pPr marL="24" indent="-18" algn="l">
              <a:lnSpc>
                <a:spcPct val="115000"/>
              </a:lnSpc>
              <a:spcAft>
                <a:spcPts val="7"/>
              </a:spcAft>
              <a:buNone/>
              <a:def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다중 언어 · 멀티 Agent</a:t>
            </a:r>
          </a:p>
        </p:txBody>
      </p:sp>
    </p:spTree>
    <p:extLst>
      <p:ext uri="{BB962C8B-B14F-4D97-AF65-F5344CB8AC3E}">
        <p14:creationId xmlns:p14="http://schemas.microsoft.com/office/powerpoint/2010/main" val="2042461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B6632127-A325-4C7E-9D9E-21D21D000D89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17356D5-6DB9-4794-9D2D-009A116C5DE1}"/>
              </a:ext>
            </a:extLst>
          </p:cNvPr>
          <p:cNvSpPr>
            <a:spLocks noGrp="1"/>
          </p:cNvSpPr>
          <p:nvPr/>
        </p:nvSpPr>
        <p:spPr>
          <a:xfrm>
            <a:off x="1276350" y="4572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ROADMAP</a:t>
            </a:r>
          </a:p>
        </p:txBody>
      </p:sp>
      <p:sp>
        <p:nvSpPr>
          <p:cNvPr id="3" name="slide-10-title">
            <a:extLst>
              <a:ext uri="{FF2B5EF4-FFF2-40B4-BE49-F238E27FC236}">
                <a16:creationId xmlns:a16="http://schemas.microsoft.com/office/drawing/2014/main" id="{56384EB2-0EE9-4750-833E-72A9C275D42C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  <a:defRPr sz="36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다음 단계는 정확도를 숫자로 증명하는 것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4D8C88-CCBD-4987-B7F0-5143302370EA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26873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626873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DDB8BE8-E9DD-4B64-BBF7-4729FF9A4065}"/>
              </a:ext>
            </a:extLst>
          </p:cNvPr>
          <p:cNvSpPr>
            <a:spLocks noGrp="1"/>
          </p:cNvSpPr>
          <p:nvPr/>
        </p:nvSpPr>
        <p:spPr>
          <a:xfrm>
            <a:off x="1181100" y="641985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ROADMAP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C2E2B81-14F4-460A-8936-4DCEB3B6DDE2}"/>
              </a:ext>
            </a:extLst>
          </p:cNvPr>
          <p:cNvSpPr>
            <a:spLocks noGrp="1"/>
          </p:cNvSpPr>
          <p:nvPr/>
        </p:nvSpPr>
        <p:spPr>
          <a:xfrm>
            <a:off x="9791700" y="6419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CODE IMPACT AGENT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DCA07CD1-9D4B-43A2-9847-608153DBDBEF}"/>
              </a:ext>
            </a:extLst>
          </p:cNvPr>
          <p:cNvSpPr>
            <a:spLocks noGrp="1"/>
          </p:cNvSpPr>
          <p:nvPr/>
        </p:nvSpPr>
        <p:spPr>
          <a:xfrm>
            <a:off x="685800" y="6267450"/>
            <a:ext cx="10820400" cy="0"/>
          </a:xfrm>
          <a:prstGeom prst="line">
            <a:avLst/>
          </a:prstGeom>
          <a:noFill/>
          <a:ln w="9525">
            <a:solidFill>
              <a:srgbClr val="D8D9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선 연결선[R] 7">
            <a:extLst>
              <a:ext uri="{FF2B5EF4-FFF2-40B4-BE49-F238E27FC236}">
                <a16:creationId xmlns:a16="http://schemas.microsoft.com/office/drawing/2014/main" id="{248988C1-DBDB-4535-B90A-9B43304E8807}"/>
              </a:ext>
            </a:extLst>
          </p:cNvPr>
          <p:cNvSpPr>
            <a:spLocks noGrp="1"/>
          </p:cNvSpPr>
          <p:nvPr/>
        </p:nvSpPr>
        <p:spPr>
          <a:xfrm>
            <a:off x="1066800" y="3219450"/>
            <a:ext cx="10058400" cy="0"/>
          </a:xfrm>
          <a:prstGeom prst="line">
            <a:avLst/>
          </a:prstGeom>
          <a:noFill/>
          <a:ln w="38100">
            <a:solidFill>
              <a:srgbClr val="D8D9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B582441-8079-47AD-B844-2EF01E13FEBB}"/>
              </a:ext>
            </a:extLst>
          </p:cNvPr>
          <p:cNvSpPr>
            <a:spLocks noGrp="1"/>
          </p:cNvSpPr>
          <p:nvPr/>
        </p:nvSpPr>
        <p:spPr>
          <a:xfrm>
            <a:off x="838200" y="3038475"/>
            <a:ext cx="361950" cy="361950"/>
          </a:xfrm>
          <a:prstGeom prst="ellipse">
            <a:avLst/>
          </a:prstGeom>
          <a:solidFill>
            <a:srgbClr val="138A7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9424B4B-F3F9-4352-8A58-F9785F4B289A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138A72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138A72"/>
                </a:solidFill>
                <a:latin typeface="Menlo"/>
                <a:ea typeface="Menlo"/>
                <a:cs typeface="Menlo"/>
              </a:rPr>
              <a:t>WEEK 1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F4F9B5E-C1CD-44BB-8194-07CEBA21D659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1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관계 데이터 구축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2931B32-FB3C-4C2C-A891-1809C2356F00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304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65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샘플 저장소</a:t>
            </a:r>
          </a:p>
          <a:p>
            <a:pPr algn="l">
              <a:lnSpc>
                <a:spcPct val="125000"/>
              </a:lnSpc>
              <a:buNone/>
              <a:defRPr sz="165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Git diff · AST · SQLite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2760E02-9867-42C3-AA7B-4485C53DE7EA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2571750" cy="438150"/>
          </a:xfrm>
          <a:prstGeom prst="rect">
            <a:avLst/>
          </a:prstGeom>
          <a:solidFill>
            <a:srgbClr val="DFF4EE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CD3D9E4-F631-44C4-BDAF-8F434A6A75F5}"/>
              </a:ext>
            </a:extLst>
          </p:cNvPr>
          <p:cNvSpPr>
            <a:spLocks noGrp="1"/>
          </p:cNvSpPr>
          <p:nvPr/>
        </p:nvSpPr>
        <p:spPr>
          <a:xfrm>
            <a:off x="819150" y="4867275"/>
            <a:ext cx="2305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38A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38A72"/>
                </a:solidFill>
                <a:latin typeface="Apple SD Gothic Neo"/>
                <a:ea typeface="Apple SD Gothic Neo"/>
                <a:cs typeface="Apple SD Gothic Neo"/>
              </a:rPr>
              <a:t>현재 코드에 존재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D8665B7-8D7F-4296-9503-A55F712E16AF}"/>
              </a:ext>
            </a:extLst>
          </p:cNvPr>
          <p:cNvSpPr>
            <a:spLocks noGrp="1"/>
          </p:cNvSpPr>
          <p:nvPr/>
        </p:nvSpPr>
        <p:spPr>
          <a:xfrm>
            <a:off x="4495800" y="3038475"/>
            <a:ext cx="361950" cy="361950"/>
          </a:xfrm>
          <a:prstGeom prst="ellipse">
            <a:avLst/>
          </a:prstGeom>
          <a:solidFill>
            <a:srgbClr val="138A7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4F41BA3-33D2-44C8-8754-894F1C471078}"/>
              </a:ext>
            </a:extLst>
          </p:cNvPr>
          <p:cNvSpPr>
            <a:spLocks noGrp="1"/>
          </p:cNvSpPr>
          <p:nvPr/>
        </p:nvSpPr>
        <p:spPr>
          <a:xfrm>
            <a:off x="4343400" y="19621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138A72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138A72"/>
                </a:solidFill>
                <a:latin typeface="Menlo"/>
                <a:ea typeface="Menlo"/>
                <a:cs typeface="Menlo"/>
              </a:rPr>
              <a:t>WEEK 2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BAF5AA7-7DFC-4117-BC73-4AFE47945E85}"/>
              </a:ext>
            </a:extLst>
          </p:cNvPr>
          <p:cNvSpPr>
            <a:spLocks noGrp="1"/>
          </p:cNvSpPr>
          <p:nvPr/>
        </p:nvSpPr>
        <p:spPr>
          <a:xfrm>
            <a:off x="4343400" y="238125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1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Gemini · Agent 흐름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933C5A7-0808-4ECF-971D-9948A12A607A}"/>
              </a:ext>
            </a:extLst>
          </p:cNvPr>
          <p:cNvSpPr>
            <a:spLocks noGrp="1"/>
          </p:cNvSpPr>
          <p:nvPr/>
        </p:nvSpPr>
        <p:spPr>
          <a:xfrm>
            <a:off x="4343400" y="3695700"/>
            <a:ext cx="304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65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질문 구조화 · Tool 선택</a:t>
            </a:r>
          </a:p>
          <a:p>
            <a:pPr algn="l">
              <a:lnSpc>
                <a:spcPct val="125000"/>
              </a:lnSpc>
              <a:buNone/>
              <a:defRPr sz="165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근거 제한 요약 · 보고서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78DB1F8-5211-4D1A-8437-59E9C1C2FB6F}"/>
              </a:ext>
            </a:extLst>
          </p:cNvPr>
          <p:cNvSpPr>
            <a:spLocks noGrp="1"/>
          </p:cNvSpPr>
          <p:nvPr/>
        </p:nvSpPr>
        <p:spPr>
          <a:xfrm>
            <a:off x="4343400" y="4762500"/>
            <a:ext cx="2571750" cy="438150"/>
          </a:xfrm>
          <a:prstGeom prst="rect">
            <a:avLst/>
          </a:prstGeom>
          <a:solidFill>
            <a:srgbClr val="DFF4EE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26DBE68-894D-4079-9C64-CE0144169535}"/>
              </a:ext>
            </a:extLst>
          </p:cNvPr>
          <p:cNvSpPr>
            <a:spLocks noGrp="1"/>
          </p:cNvSpPr>
          <p:nvPr/>
        </p:nvSpPr>
        <p:spPr>
          <a:xfrm>
            <a:off x="4476750" y="4867275"/>
            <a:ext cx="2305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38A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38A72"/>
                </a:solidFill>
                <a:latin typeface="Apple SD Gothic Neo"/>
                <a:ea typeface="Apple SD Gothic Neo"/>
                <a:cs typeface="Apple SD Gothic Neo"/>
              </a:rPr>
              <a:t>현재 테스트로 검증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7F4A8384-6BED-4FB1-9330-DD2CAC0CEE34}"/>
              </a:ext>
            </a:extLst>
          </p:cNvPr>
          <p:cNvSpPr>
            <a:spLocks noGrp="1"/>
          </p:cNvSpPr>
          <p:nvPr/>
        </p:nvSpPr>
        <p:spPr>
          <a:xfrm>
            <a:off x="8153400" y="3038475"/>
            <a:ext cx="361950" cy="361950"/>
          </a:xfrm>
          <a:prstGeom prst="ellipse">
            <a:avLst/>
          </a:prstGeom>
          <a:solidFill>
            <a:srgbClr val="3157D5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00ED9A1-BB4B-4CF7-8DCC-54C9D2274B04}"/>
              </a:ext>
            </a:extLst>
          </p:cNvPr>
          <p:cNvSpPr>
            <a:spLocks noGrp="1"/>
          </p:cNvSpPr>
          <p:nvPr/>
        </p:nvSpPr>
        <p:spPr>
          <a:xfrm>
            <a:off x="8001000" y="19621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3157D5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3157D5"/>
                </a:solidFill>
                <a:latin typeface="Menlo"/>
                <a:ea typeface="Menlo"/>
                <a:cs typeface="Menlo"/>
              </a:rPr>
              <a:t>WEEK 3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6016C37-DCA4-46E1-9B50-CE0C5189A929}"/>
              </a:ext>
            </a:extLst>
          </p:cNvPr>
          <p:cNvSpPr>
            <a:spLocks noGrp="1"/>
          </p:cNvSpPr>
          <p:nvPr/>
        </p:nvSpPr>
        <p:spPr>
          <a:xfrm>
            <a:off x="8001000" y="238125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1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평가와 사용성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A92C446-A018-4192-B252-31373AA57FC2}"/>
              </a:ext>
            </a:extLst>
          </p:cNvPr>
          <p:cNvSpPr>
            <a:spLocks noGrp="1"/>
          </p:cNvSpPr>
          <p:nvPr/>
        </p:nvSpPr>
        <p:spPr>
          <a:xfrm>
            <a:off x="8001000" y="3695700"/>
            <a:ext cx="304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65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정답 커밋 12–15개</a:t>
            </a:r>
          </a:p>
          <a:p>
            <a:pPr algn="l">
              <a:lnSpc>
                <a:spcPct val="125000"/>
              </a:lnSpc>
              <a:buNone/>
              <a:defRPr sz="165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26873"/>
                </a:solidFill>
                <a:latin typeface="Apple SD Gothic Neo"/>
                <a:ea typeface="Apple SD Gothic Neo"/>
                <a:cs typeface="Apple SD Gothic Neo"/>
              </a:rPr>
              <a:t>정확도 · Streamlit · Docker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52B4292-0E98-46CB-AFEC-85902ACB6D43}"/>
              </a:ext>
            </a:extLst>
          </p:cNvPr>
          <p:cNvSpPr>
            <a:spLocks noGrp="1"/>
          </p:cNvSpPr>
          <p:nvPr/>
        </p:nvSpPr>
        <p:spPr>
          <a:xfrm>
            <a:off x="8001000" y="4762500"/>
            <a:ext cx="2571750" cy="438150"/>
          </a:xfrm>
          <a:prstGeom prst="rect">
            <a:avLst/>
          </a:prstGeom>
          <a:solidFill>
            <a:srgbClr val="E6EB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C5958B5-7DB5-4863-94C1-94E4CD667D3C}"/>
              </a:ext>
            </a:extLst>
          </p:cNvPr>
          <p:cNvSpPr>
            <a:spLocks noGrp="1"/>
          </p:cNvSpPr>
          <p:nvPr/>
        </p:nvSpPr>
        <p:spPr>
          <a:xfrm>
            <a:off x="8134350" y="4867275"/>
            <a:ext cx="2305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3157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3157D5"/>
                </a:solidFill>
                <a:latin typeface="Apple SD Gothic Neo"/>
                <a:ea typeface="Apple SD Gothic Neo"/>
                <a:cs typeface="Apple SD Gothic Neo"/>
              </a:rPr>
              <a:t>다음 목표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A704640-2D92-43D3-9D7F-662361251144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3157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3157D5"/>
                </a:solidFill>
                <a:latin typeface="Apple SD Gothic Neo"/>
                <a:ea typeface="Apple SD Gothic Neo"/>
                <a:cs typeface="Apple SD Gothic Neo"/>
              </a:rPr>
              <a:t>평가 기준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95055B8-16E7-439C-B32C-F69AE0EA0DAE}"/>
              </a:ext>
            </a:extLst>
          </p:cNvPr>
          <p:cNvSpPr>
            <a:spLocks noGrp="1"/>
          </p:cNvSpPr>
          <p:nvPr/>
        </p:nvSpPr>
        <p:spPr>
          <a:xfrm>
            <a:off x="2209800" y="56197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318"/>
                </a:solidFill>
                <a:latin typeface="Apple SD Gothic Neo"/>
                <a:ea typeface="Apple SD Gothic Neo"/>
                <a:cs typeface="Apple SD Gothic Neo"/>
              </a:rPr>
              <a:t>변경 함수 · 영향 함수 · 관련 테스트의 사전 정답과 Agent 결과를 비교</a:t>
            </a:r>
          </a:p>
        </p:txBody>
      </p:sp>
    </p:spTree>
    <p:extLst>
      <p:ext uri="{BB962C8B-B14F-4D97-AF65-F5344CB8AC3E}">
        <p14:creationId xmlns:p14="http://schemas.microsoft.com/office/powerpoint/2010/main" val="58798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0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4BBBC499-D3E6-4086-9F25-EAD5E3EC2D25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AFC0FF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AFC0FF"/>
                </a:solidFill>
                <a:latin typeface="Menlo"/>
                <a:ea typeface="Menlo"/>
                <a:cs typeface="Menlo"/>
              </a:rPr>
              <a:t>CONCLUSION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BCD12D5-631F-4C90-9D8A-AA60D8F76905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742950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4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변경 분석을</a:t>
            </a:r>
          </a:p>
          <a:p>
            <a:pPr algn="l">
              <a:lnSpc>
                <a:spcPct val="90000"/>
              </a:lnSpc>
              <a:buNone/>
              <a:defRPr sz="4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‘감’에서 ‘근거’로 바꾼다</a:t>
            </a:r>
          </a:p>
        </p:txBody>
      </p:sp>
      <p:sp>
        <p:nvSpPr>
          <p:cNvPr id="3" name="직선 연결선[R] 2">
            <a:extLst>
              <a:ext uri="{FF2B5EF4-FFF2-40B4-BE49-F238E27FC236}">
                <a16:creationId xmlns:a16="http://schemas.microsoft.com/office/drawing/2014/main" id="{9ABBA24C-3748-47A6-BF32-D7ABDA074205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1047750" cy="0"/>
          </a:xfrm>
          <a:prstGeom prst="line">
            <a:avLst/>
          </a:prstGeom>
          <a:noFill/>
          <a:ln w="47625">
            <a:solidFill>
              <a:srgbClr val="AFC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7D175CC-9A83-4924-A033-11C2054F1E79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7810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2025" b="0">
                <a:solidFill>
                  <a:srgbClr val="E6E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E6EBFF"/>
                </a:solidFill>
                <a:latin typeface="Apple SD Gothic Neo"/>
                <a:ea typeface="Apple SD Gothic Neo"/>
                <a:cs typeface="Apple SD Gothic Neo"/>
              </a:rPr>
              <a:t>Code Impact Agent는 커밋의 변경 함수, 호출 영향, 관련 테스트를</a:t>
            </a:r>
          </a:p>
          <a:p>
            <a:pPr algn="l">
              <a:lnSpc>
                <a:spcPct val="120000"/>
              </a:lnSpc>
              <a:buNone/>
              <a:defRPr sz="2025" b="0">
                <a:solidFill>
                  <a:srgbClr val="E6E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E6EBFF"/>
                </a:solidFill>
                <a:latin typeface="Apple SD Gothic Neo"/>
                <a:ea typeface="Apple SD Gothic Neo"/>
                <a:cs typeface="Apple SD Gothic Neo"/>
              </a:rPr>
              <a:t>검증 가능한 파일·함수·라인으로 연결한다.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3C2F9E7-107D-404A-8DC1-51522FAA0D52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AFC0FF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AFC0F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BC06055-C584-41C5-9EBE-E9011DC211E2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분석 시간 단축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3CE9521-D383-46B1-8313-53360B4AAECF}"/>
              </a:ext>
            </a:extLst>
          </p:cNvPr>
          <p:cNvSpPr>
            <a:spLocks noGrp="1"/>
          </p:cNvSpPr>
          <p:nvPr/>
        </p:nvSpPr>
        <p:spPr>
          <a:xfrm>
            <a:off x="3924300" y="52197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AFC0FF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AFC0F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6BB9A45-7C8E-4AE9-979F-48498A935B28}"/>
              </a:ext>
            </a:extLst>
          </p:cNvPr>
          <p:cNvSpPr>
            <a:spLocks noGrp="1"/>
          </p:cNvSpPr>
          <p:nvPr/>
        </p:nvSpPr>
        <p:spPr>
          <a:xfrm>
            <a:off x="4533900" y="51816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테스트 누락 방지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7673543-2B86-4BE3-91C3-C1228973DCFB}"/>
              </a:ext>
            </a:extLst>
          </p:cNvPr>
          <p:cNvSpPr>
            <a:spLocks noGrp="1"/>
          </p:cNvSpPr>
          <p:nvPr/>
        </p:nvSpPr>
        <p:spPr>
          <a:xfrm>
            <a:off x="7162800" y="52197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AFC0FF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AFC0F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2DCE0B2-13F6-49D4-A353-80A8E5AA5A8C}"/>
              </a:ext>
            </a:extLst>
          </p:cNvPr>
          <p:cNvSpPr>
            <a:spLocks noGrp="1"/>
          </p:cNvSpPr>
          <p:nvPr/>
        </p:nvSpPr>
        <p:spPr>
          <a:xfrm>
            <a:off x="7772400" y="51816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검토 근거 보존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914EC1B-20CB-4E98-B31D-BD7D265A4F01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AFC0FF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AFC0FF"/>
                </a:solidFill>
                <a:latin typeface="Menlo"/>
                <a:ea typeface="Menlo"/>
                <a:cs typeface="Menlo"/>
              </a:rPr>
              <a:t>CODE IMPACT AGENT · PROJECT REPORT</a:t>
            </a:r>
          </a:p>
        </p:txBody>
      </p:sp>
    </p:spTree>
    <p:extLst>
      <p:ext uri="{BB962C8B-B14F-4D97-AF65-F5344CB8AC3E}">
        <p14:creationId xmlns:p14="http://schemas.microsoft.com/office/powerpoint/2010/main" val="15062479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1472</Words>
  <Application>Microsoft Macintosh PowerPoint</Application>
  <DocSecurity>0</DocSecurity>
  <PresentationFormat>와이드스크린</PresentationFormat>
  <Paragraphs>277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Apple SD Gothic Neo</vt:lpstr>
      <vt:lpstr>Calibri</vt:lpstr>
      <vt:lpstr>Menlo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821052881780</cp:lastModifiedBy>
  <cp:revision>1</cp:revision>
  <dcterms:created xsi:type="dcterms:W3CDTF">2026-07-30T15:02:45Z</dcterms:created>
  <dcterms:modified xsi:type="dcterms:W3CDTF">2026-07-30T15:07:27Z</dcterms:modified>
</cp:coreProperties>
</file>